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Interbank (WAR)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121.2</c:v>
                </c:pt>
                <c:pt idx="1">
                  <c:v>121.4</c:v>
                </c:pt>
                <c:pt idx="2">
                  <c:v>121.6</c:v>
                </c:pt>
                <c:pt idx="3">
                  <c:v>121.8</c:v>
                </c:pt>
                <c:pt idx="4">
                  <c:v>122.0</c:v>
                </c:pt>
                <c:pt idx="5">
                  <c:v>122.1</c:v>
                </c:pt>
                <c:pt idx="6">
                  <c:v>122.2</c:v>
                </c:pt>
                <c:pt idx="7">
                  <c:v>122.3</c:v>
                </c:pt>
                <c:pt idx="8">
                  <c:v>122.35</c:v>
                </c:pt>
                <c:pt idx="9">
                  <c:v>122.4</c:v>
                </c:pt>
                <c:pt idx="10">
                  <c:v>122.45</c:v>
                </c:pt>
                <c:pt idx="11">
                  <c:v>122.48</c:v>
                </c:pt>
                <c:pt idx="12">
                  <c:v>122.5</c:v>
                </c:pt>
                <c:pt idx="13">
                  <c:v>122.75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BC Selling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121.8</c:v>
                </c:pt>
                <c:pt idx="1">
                  <c:v>122.0</c:v>
                </c:pt>
                <c:pt idx="2">
                  <c:v>122.2</c:v>
                </c:pt>
                <c:pt idx="3">
                  <c:v>122.4</c:v>
                </c:pt>
                <c:pt idx="4">
                  <c:v>122.55</c:v>
                </c:pt>
                <c:pt idx="5">
                  <c:v>122.65</c:v>
                </c:pt>
                <c:pt idx="6">
                  <c:v>122.75</c:v>
                </c:pt>
                <c:pt idx="7">
                  <c:v>122.85</c:v>
                </c:pt>
                <c:pt idx="8">
                  <c:v>122.9</c:v>
                </c:pt>
                <c:pt idx="9">
                  <c:v>122.95</c:v>
                </c:pt>
                <c:pt idx="10">
                  <c:v>123.0</c:v>
                </c:pt>
                <c:pt idx="11">
                  <c:v>123.0</c:v>
                </c:pt>
                <c:pt idx="12">
                  <c:v>123.0</c:v>
                </c:pt>
                <c:pt idx="13">
                  <c:v>123.25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SOFR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3.73222</c:v>
                </c:pt>
                <c:pt idx="1">
                  <c:v>3.84627</c:v>
                </c:pt>
                <c:pt idx="2">
                  <c:v>3.99367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EURIBOR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2.291</c:v>
                </c:pt>
                <c:pt idx="1">
                  <c:v>2.596</c:v>
                </c:pt>
                <c:pt idx="2">
                  <c:v>2.764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money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9.2</c:v>
                </c:pt>
                <c:pt idx="1">
                  <c:v>9.4</c:v>
                </c:pt>
                <c:pt idx="2">
                  <c:v>9.8</c:v>
                </c:pt>
                <c:pt idx="3">
                  <c:v>10.1</c:v>
                </c:pt>
                <c:pt idx="4">
                  <c:v>9.95</c:v>
                </c:pt>
                <c:pt idx="5">
                  <c:v>10.0</c:v>
                </c:pt>
                <c:pt idx="6">
                  <c:v>10.05</c:v>
                </c:pt>
                <c:pt idx="7">
                  <c:v>10.1</c:v>
                </c:pt>
                <c:pt idx="8">
                  <c:v>10.05</c:v>
                </c:pt>
                <c:pt idx="9">
                  <c:v>10.0</c:v>
                </c:pt>
                <c:pt idx="10">
                  <c:v>9.95</c:v>
                </c:pt>
                <c:pt idx="11">
                  <c:v>10.0</c:v>
                </c:pt>
                <c:pt idx="12">
                  <c:v>10.0</c:v>
                </c:pt>
                <c:pt idx="13">
                  <c:v>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repo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week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9.6985</c:v>
                </c:pt>
                <c:pt idx="1">
                  <c:v>9.89</c:v>
                </c:pt>
                <c:pt idx="2">
                  <c:v>9.9255</c:v>
                </c:pt>
                <c:pt idx="3">
                  <c:v>10.43</c:v>
                </c:pt>
                <c:pt idx="4">
                  <c:v>10.3502</c:v>
                </c:pt>
                <c:pt idx="5">
                  <c:v>10.24</c:v>
                </c:pt>
                <c:pt idx="6">
                  <c:v>10.34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week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11.2</c:v>
                </c:pt>
                <c:pt idx="1">
                  <c:v>11.35</c:v>
                </c:pt>
                <c:pt idx="2">
                  <c:v>11.5</c:v>
                </c:pt>
                <c:pt idx="3">
                  <c:v>11.55</c:v>
                </c:pt>
                <c:pt idx="4">
                  <c:v>11.25</c:v>
                </c:pt>
                <c:pt idx="5">
                  <c:v>10.2</c:v>
                </c:pt>
                <c:pt idx="6">
                  <c:v>10.85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Point-to-point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9.05</c:v>
                </c:pt>
                <c:pt idx="1">
                  <c:v>8.48</c:v>
                </c:pt>
                <c:pt idx="2">
                  <c:v>8.55</c:v>
                </c:pt>
                <c:pt idx="3">
                  <c:v>8.29</c:v>
                </c:pt>
                <c:pt idx="4">
                  <c:v>8.1</c:v>
                </c:pt>
                <c:pt idx="5">
                  <c:v>8.2</c:v>
                </c:pt>
                <c:pt idx="6">
                  <c:v>7.95</c:v>
                </c:pt>
                <c:pt idx="7">
                  <c:v>8.3</c:v>
                </c:pt>
                <c:pt idx="8">
                  <c:v>8.58</c:v>
                </c:pt>
                <c:pt idx="9">
                  <c:v>9.13</c:v>
                </c:pt>
                <c:pt idx="10">
                  <c:v>8.71</c:v>
                </c:pt>
                <c:pt idx="11">
                  <c:v>9.04</c:v>
                </c:pt>
                <c:pt idx="12">
                  <c:v>9.42</c:v>
                </c:pt>
                <c:pt idx="13">
                  <c:v>9.42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avg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10.2</c:v>
                </c:pt>
                <c:pt idx="1">
                  <c:v>10.05</c:v>
                </c:pt>
                <c:pt idx="2">
                  <c:v>9.9</c:v>
                </c:pt>
                <c:pt idx="3">
                  <c:v>9.7</c:v>
                </c:pt>
                <c:pt idx="4">
                  <c:v>9.5</c:v>
                </c:pt>
                <c:pt idx="5">
                  <c:v>9.3</c:v>
                </c:pt>
                <c:pt idx="6">
                  <c:v>9.1</c:v>
                </c:pt>
                <c:pt idx="7">
                  <c:v>8.95</c:v>
                </c:pt>
                <c:pt idx="8">
                  <c:v>8.85</c:v>
                </c:pt>
                <c:pt idx="9">
                  <c:v>8.8</c:v>
                </c:pt>
                <c:pt idx="10">
                  <c:v>8.74</c:v>
                </c:pt>
                <c:pt idx="11">
                  <c:v>8.7</c:v>
                </c:pt>
                <c:pt idx="12">
                  <c:v>8.63</c:v>
                </c:pt>
                <c:pt idx="13">
                  <c:v>8.63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4.74</c:v>
                </c:pt>
                <c:pt idx="1">
                  <c:v>4.1</c:v>
                </c:pt>
                <c:pt idx="2">
                  <c:v>3.85</c:v>
                </c:pt>
                <c:pt idx="3">
                  <c:v>4.05</c:v>
                </c:pt>
                <c:pt idx="4">
                  <c:v>4.2</c:v>
                </c:pt>
                <c:pt idx="5">
                  <c:v>4.3</c:v>
                </c:pt>
                <c:pt idx="6">
                  <c:v>4.25</c:v>
                </c:pt>
                <c:pt idx="7">
                  <c:v>4.45</c:v>
                </c:pt>
                <c:pt idx="8">
                  <c:v>4.15</c:v>
                </c:pt>
                <c:pt idx="9">
                  <c:v>4.2</c:v>
                </c:pt>
                <c:pt idx="10">
                  <c:v>4.55</c:v>
                </c:pt>
                <c:pt idx="11">
                  <c:v>4.3</c:v>
                </c:pt>
                <c:pt idx="12">
                  <c:v>4.4</c:v>
                </c:pt>
                <c:pt idx="13">
                  <c:v>4.4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5.3</c:v>
                </c:pt>
                <c:pt idx="1">
                  <c:v>5.45</c:v>
                </c:pt>
                <c:pt idx="2">
                  <c:v>5.2</c:v>
                </c:pt>
                <c:pt idx="3">
                  <c:v>5.35</c:v>
                </c:pt>
                <c:pt idx="4">
                  <c:v>5.5</c:v>
                </c:pt>
                <c:pt idx="5">
                  <c:v>5.4</c:v>
                </c:pt>
                <c:pt idx="6">
                  <c:v>5.55</c:v>
                </c:pt>
                <c:pt idx="7">
                  <c:v>5.7</c:v>
                </c:pt>
                <c:pt idx="8">
                  <c:v>5.45</c:v>
                </c:pt>
                <c:pt idx="9">
                  <c:v>5.5</c:v>
                </c:pt>
                <c:pt idx="10">
                  <c:v>5.65</c:v>
                </c:pt>
                <c:pt idx="11">
                  <c:v>5.6</c:v>
                </c:pt>
                <c:pt idx="12">
                  <c:v>5.8</c:v>
                </c:pt>
                <c:pt idx="13">
                  <c:v>5.8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Remittance</c:v>
                </c:pt>
              </c:strCache>
            </c:strRef>
          </c:tx>
          <c:spPr>
            <a:ln w="28575">
              <a:solidFill>
                <a:srgbClr val="1E8E5A"/>
              </a:solidFill>
            </a:ln>
          </c:spPr>
          <c:marker>
            <c:symbol val="circle"/>
            <c:spPr>
              <a:solidFill>
                <a:srgbClr val="1E8E5A"/>
              </a:solidFill>
              <a:ln>
                <a:solidFill>
                  <a:srgbClr val="1E8E5A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2.97</c:v>
                </c:pt>
                <c:pt idx="1">
                  <c:v>2.82</c:v>
                </c:pt>
                <c:pt idx="2">
                  <c:v>2.47</c:v>
                </c:pt>
                <c:pt idx="3">
                  <c:v>2.42</c:v>
                </c:pt>
                <c:pt idx="4">
                  <c:v>2.55</c:v>
                </c:pt>
                <c:pt idx="5">
                  <c:v>2.56</c:v>
                </c:pt>
                <c:pt idx="6">
                  <c:v>2.49</c:v>
                </c:pt>
                <c:pt idx="7">
                  <c:v>2.92</c:v>
                </c:pt>
                <c:pt idx="8">
                  <c:v>2.6</c:v>
                </c:pt>
                <c:pt idx="9">
                  <c:v>2.55</c:v>
                </c:pt>
                <c:pt idx="10">
                  <c:v>2.95</c:v>
                </c:pt>
                <c:pt idx="11">
                  <c:v>3.12</c:v>
                </c:pt>
                <c:pt idx="12">
                  <c:v>3.43</c:v>
                </c:pt>
                <c:pt idx="13">
                  <c:v>3.43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31.4</c:v>
                </c:pt>
                <c:pt idx="1">
                  <c:v>31.7</c:v>
                </c:pt>
                <c:pt idx="2">
                  <c:v>30.9</c:v>
                </c:pt>
                <c:pt idx="3">
                  <c:v>31.5</c:v>
                </c:pt>
                <c:pt idx="4">
                  <c:v>31.8</c:v>
                </c:pt>
                <c:pt idx="5">
                  <c:v>32.34</c:v>
                </c:pt>
                <c:pt idx="6">
                  <c:v>32.8</c:v>
                </c:pt>
                <c:pt idx="7">
                  <c:v>33.2</c:v>
                </c:pt>
                <c:pt idx="8">
                  <c:v>33.6</c:v>
                </c:pt>
                <c:pt idx="9">
                  <c:v>34.1</c:v>
                </c:pt>
                <c:pt idx="10">
                  <c:v>34.4</c:v>
                </c:pt>
                <c:pt idx="11">
                  <c:v>35.11</c:v>
                </c:pt>
                <c:pt idx="12">
                  <c:v>34.55</c:v>
                </c:pt>
                <c:pt idx="13">
                  <c:v>34.55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BPM6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27.0</c:v>
                </c:pt>
                <c:pt idx="1">
                  <c:v>26.7</c:v>
                </c:pt>
                <c:pt idx="2">
                  <c:v>26.1</c:v>
                </c:pt>
                <c:pt idx="3">
                  <c:v>26.8</c:v>
                </c:pt>
                <c:pt idx="4">
                  <c:v>27.0</c:v>
                </c:pt>
                <c:pt idx="5">
                  <c:v>27.58</c:v>
                </c:pt>
                <c:pt idx="6">
                  <c:v>28.0</c:v>
                </c:pt>
                <c:pt idx="7">
                  <c:v>28.51</c:v>
                </c:pt>
                <c:pt idx="8">
                  <c:v>28.9</c:v>
                </c:pt>
                <c:pt idx="9">
                  <c:v>29.47</c:v>
                </c:pt>
                <c:pt idx="10">
                  <c:v>29.9</c:v>
                </c:pt>
                <c:pt idx="11">
                  <c:v>30.6</c:v>
                </c:pt>
                <c:pt idx="12">
                  <c:v>30.0</c:v>
                </c:pt>
                <c:pt idx="13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2380</c:v>
                </c:pt>
                <c:pt idx="1">
                  <c:v>2450</c:v>
                </c:pt>
                <c:pt idx="2">
                  <c:v>2550</c:v>
                </c:pt>
                <c:pt idx="3">
                  <c:v>2650</c:v>
                </c:pt>
                <c:pt idx="4">
                  <c:v>2800</c:v>
                </c:pt>
                <c:pt idx="5">
                  <c:v>2950</c:v>
                </c:pt>
                <c:pt idx="6">
                  <c:v>3150</c:v>
                </c:pt>
                <c:pt idx="7">
                  <c:v>3400</c:v>
                </c:pt>
                <c:pt idx="8">
                  <c:v>4250</c:v>
                </c:pt>
                <c:pt idx="9">
                  <c:v>4150</c:v>
                </c:pt>
                <c:pt idx="10">
                  <c:v>4080</c:v>
                </c:pt>
                <c:pt idx="11">
                  <c:v>4050</c:v>
                </c:pt>
                <c:pt idx="12">
                  <c:v>4000</c:v>
                </c:pt>
                <c:pt idx="13">
                  <c:v>4000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80</c:v>
                </c:pt>
                <c:pt idx="1">
                  <c:v>79</c:v>
                </c:pt>
                <c:pt idx="2">
                  <c:v>77</c:v>
                </c:pt>
                <c:pt idx="3">
                  <c:v>76</c:v>
                </c:pt>
                <c:pt idx="4">
                  <c:v>75</c:v>
                </c:pt>
                <c:pt idx="5">
                  <c:v>74</c:v>
                </c:pt>
                <c:pt idx="6">
                  <c:v>73</c:v>
                </c:pt>
                <c:pt idx="7">
                  <c:v>75</c:v>
                </c:pt>
                <c:pt idx="8">
                  <c:v>78</c:v>
                </c:pt>
                <c:pt idx="9">
                  <c:v>80</c:v>
                </c:pt>
                <c:pt idx="10">
                  <c:v>84</c:v>
                </c:pt>
                <c:pt idx="11">
                  <c:v>88</c:v>
                </c:pt>
                <c:pt idx="12">
                  <c:v>85</c:v>
                </c:pt>
                <c:pt idx="13">
                  <c:v>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BANGLADESH 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DCM Weekly : দেশী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mbria"/>
              </a:rPr>
              <a:t>Rates, FX, the External Sector &amp; Global 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61104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New Monetary Policy declared. The contractionary stance prevails with a new rule to improve credit growth - limiting spread between the deposit and lending rates of commercial banks. The move has been highly crticized already and practitioners believe the central bank will move away from this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Week ending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June 29,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Industry Professionals Only - Domestic Bangladeshi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89788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14476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Calibri"/>
              </a:rPr>
              <a:t>Md. Sohel Rahman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07899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Week-on-week moves. Green = favourable, red = adverse, grey = market/neutral.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122.84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▲ 0.34  WoW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9659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123.50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SOFR 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3.73%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0.01 pp  WoW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0.25 pp  WoW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0215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T-Bill 91D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215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1.50 pp  WoW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251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T-Bond 10Y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▲ 0.04 pp  WoW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15468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917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02152" y="434340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4845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215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215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251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881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251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4.40 $bn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8251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6287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917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3.43 $bn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6287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179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3756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50215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4845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215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82512" y="553212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2881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8251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4,000 $/oz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8251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9828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6287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917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287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73.00 $/bbl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6287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FX &amp; Exchange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Exchange rate: interbank (WAR) vs BC selling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122.84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123.50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taka rose 0.34 to 122.84/USD, with BC selling at 123.50.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Global Reference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Global reference rates by tenor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103120"/>
          <a:ext cx="63093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0253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Term SOFR spans 3.73-3.99% across tenors, while EURIBOR sits lower at 2.29%+.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0603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0603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3-month SOFR-EURIBOR gap is 1.44pp, a live input for currency-of-borrowing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POLICY &amp; MONEY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Domestic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Call money vs policy repo rate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Bank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repo rate is 10.00%, the Bank Rate 4.00%.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Call money fell 0.25pp to 9.75%.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GOVERNMENT SECURITIES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Yield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Government securities yield curve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YIELDS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91D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182D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364D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5Y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10Y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20Y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15468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30168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941064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941064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local-currency curve is upward-sloping: the 91-day (9.70%) sits below the 10-year (10.24%).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54456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4456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Week-on-week the curve shifted down about 1.00pp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Inflation: point-to-point vs 12-month average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Point-to-point inflation was unchanged at 9.42%.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8327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38327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12-month average was unchanged at 8.63%.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INFLOWS &amp;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Trade &amp; Remittances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Trade &amp; remittances, monthly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4.40 $bn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3.43 $bn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Remittances was little changed at $3.43bn.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Exports were $4.40bn against imports of $5.80bn - a trade gap of $1.40bn.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EXTERNAL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Foreign Exchange Reserves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Foreign exchange reserves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Gross reserves was little changed at $36.08bn (BPM6 $31.53bn).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Commodities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Gold ($/oz)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Brent crude ($/bbl)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2103120"/>
          <a:ext cx="30175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11880" y="2103120"/>
          <a:ext cx="3108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4,000 $/oz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73.00 $/bbl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79192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99008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9008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Gold was little changed at $4,000/oz.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1927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319272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Brent was little changed at $73.00/bbl.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Data Calendar &amp;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64792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BBS - June &amp; FY26 CPI inflation (point-to-point and 12-month average)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month-end gross &amp; BPM6 reserves; FY26 remittance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62656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Mid 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81528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EPB - June &amp; FY26 export earnings and the trade 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1024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9896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39896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T-bill &amp; T-bond auction cut-off yields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79392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98264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Monetary Policy Statement for H1 FY27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59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56631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056631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Global - term SOFR, EURIBOR, gold and Brent crude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20700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09728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METHODOLOGY &amp;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Sources &amp; Disclaimer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Primary sources: Bangladesh Bank (FX, reserves, policy &amp; market rates, remittances); BBS (CPI); EPB (trade); Dhaka Stock Exchange. Global: CME Group (Term SOFR), EMMI (EURIBOR), LBMA/ICE (gold, Brent). Figures are point-in-time and subject to revision by the issuing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9663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3C8"/>
                </a:solidFill>
                <a:latin typeface="Calibri"/>
              </a:rPr>
              <a:t>Prepared for internal senior-management information only. Not investment advice, an offer, or a solicitation. Weekly figures are compiled from public releases and may be provisional. Verify against primary sources before acting. Distribution is restricted and confidential.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June 29,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