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Interbank (WAR)</c:v>
                </c:pt>
              </c:strCache>
            </c:strRef>
          </c:tx>
          <c:spPr>
            <a:ln w="28575">
              <a:solidFill>
                <a:srgbClr val="1E2761"/>
              </a:solidFill>
            </a:ln>
          </c:spPr>
          <c:marker>
            <c:symbol val="circle"/>
            <c:spPr>
              <a:solidFill>
                <a:srgbClr val="1E2761"/>
              </a:solidFill>
              <a:ln>
                <a:solidFill>
                  <a:srgbClr val="1E2761"/>
                </a:solidFill>
              </a:ln>
            </c:spPr>
          </c:marker>
          <c:cat>
            <c:strRef>
              <c:f>Sheet1!$A$2:$A$15</c:f>
              <c:strCache>
                <c:ptCount val="14"/>
                <c:pt idx="0">
                  <c:v>25-05</c:v>
                </c:pt>
                <c:pt idx="1">
                  <c:v>25-06</c:v>
                </c:pt>
                <c:pt idx="2">
                  <c:v>25-07</c:v>
                </c:pt>
                <c:pt idx="3">
                  <c:v>25-08</c:v>
                </c:pt>
                <c:pt idx="4">
                  <c:v>25-09</c:v>
                </c:pt>
                <c:pt idx="5">
                  <c:v>25-10</c:v>
                </c:pt>
                <c:pt idx="6">
                  <c:v>25-11</c:v>
                </c:pt>
                <c:pt idx="7">
                  <c:v>25-12</c:v>
                </c:pt>
                <c:pt idx="8">
                  <c:v>26-01</c:v>
                </c:pt>
                <c:pt idx="9">
                  <c:v>26-02</c:v>
                </c:pt>
                <c:pt idx="10">
                  <c:v>26-03</c:v>
                </c:pt>
                <c:pt idx="11">
                  <c:v>26-04</c:v>
                </c:pt>
                <c:pt idx="12">
                  <c:v>26-05</c:v>
                </c:pt>
                <c:pt idx="13">
                  <c:v>26-06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121.2</c:v>
                </c:pt>
                <c:pt idx="1">
                  <c:v>121.4</c:v>
                </c:pt>
                <c:pt idx="2">
                  <c:v>121.6</c:v>
                </c:pt>
                <c:pt idx="3">
                  <c:v>121.8</c:v>
                </c:pt>
                <c:pt idx="4">
                  <c:v>122.0</c:v>
                </c:pt>
                <c:pt idx="5">
                  <c:v>122.1</c:v>
                </c:pt>
                <c:pt idx="6">
                  <c:v>122.2</c:v>
                </c:pt>
                <c:pt idx="7">
                  <c:v>122.3</c:v>
                </c:pt>
                <c:pt idx="8">
                  <c:v>122.35</c:v>
                </c:pt>
                <c:pt idx="9">
                  <c:v>122.4</c:v>
                </c:pt>
                <c:pt idx="10">
                  <c:v>122.45</c:v>
                </c:pt>
                <c:pt idx="11">
                  <c:v>122.48</c:v>
                </c:pt>
                <c:pt idx="12">
                  <c:v>122.5</c:v>
                </c:pt>
                <c:pt idx="13">
                  <c:v>122.75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BC Selling</c:v>
                </c:pt>
              </c:strCache>
            </c:strRef>
          </c:tx>
          <c:spPr>
            <a:ln w="28575">
              <a:solidFill>
                <a:srgbClr val="C9A227"/>
              </a:solidFill>
            </a:ln>
          </c:spPr>
          <c:marker>
            <c:symbol val="circle"/>
            <c:spPr>
              <a:solidFill>
                <a:srgbClr val="C9A227"/>
              </a:solidFill>
              <a:ln>
                <a:solidFill>
                  <a:srgbClr val="C9A227"/>
                </a:solidFill>
              </a:ln>
            </c:spPr>
          </c:marker>
          <c:cat>
            <c:strRef>
              <c:f>Sheet1!$A$2:$A$15</c:f>
              <c:strCache>
                <c:ptCount val="14"/>
                <c:pt idx="0">
                  <c:v>25-05</c:v>
                </c:pt>
                <c:pt idx="1">
                  <c:v>25-06</c:v>
                </c:pt>
                <c:pt idx="2">
                  <c:v>25-07</c:v>
                </c:pt>
                <c:pt idx="3">
                  <c:v>25-08</c:v>
                </c:pt>
                <c:pt idx="4">
                  <c:v>25-09</c:v>
                </c:pt>
                <c:pt idx="5">
                  <c:v>25-10</c:v>
                </c:pt>
                <c:pt idx="6">
                  <c:v>25-11</c:v>
                </c:pt>
                <c:pt idx="7">
                  <c:v>25-12</c:v>
                </c:pt>
                <c:pt idx="8">
                  <c:v>26-01</c:v>
                </c:pt>
                <c:pt idx="9">
                  <c:v>26-02</c:v>
                </c:pt>
                <c:pt idx="10">
                  <c:v>26-03</c:v>
                </c:pt>
                <c:pt idx="11">
                  <c:v>26-04</c:v>
                </c:pt>
                <c:pt idx="12">
                  <c:v>26-05</c:v>
                </c:pt>
                <c:pt idx="13">
                  <c:v>26-06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121.8</c:v>
                </c:pt>
                <c:pt idx="1">
                  <c:v>122.0</c:v>
                </c:pt>
                <c:pt idx="2">
                  <c:v>122.2</c:v>
                </c:pt>
                <c:pt idx="3">
                  <c:v>122.4</c:v>
                </c:pt>
                <c:pt idx="4">
                  <c:v>122.55</c:v>
                </c:pt>
                <c:pt idx="5">
                  <c:v>122.65</c:v>
                </c:pt>
                <c:pt idx="6">
                  <c:v>122.75</c:v>
                </c:pt>
                <c:pt idx="7">
                  <c:v>122.85</c:v>
                </c:pt>
                <c:pt idx="8">
                  <c:v>122.9</c:v>
                </c:pt>
                <c:pt idx="9">
                  <c:v>122.95</c:v>
                </c:pt>
                <c:pt idx="10">
                  <c:v>123.0</c:v>
                </c:pt>
                <c:pt idx="11">
                  <c:v>123.0</c:v>
                </c:pt>
                <c:pt idx="12">
                  <c:v>123.0</c:v>
                </c:pt>
                <c:pt idx="13">
                  <c:v>123.25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SOFR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Sheet1!$A$2:$A$4</c:f>
              <c:strCache>
                <c:ptCount val="3"/>
                <c:pt idx="0">
                  <c:v>3M</c:v>
                </c:pt>
                <c:pt idx="1">
                  <c:v>6M</c:v>
                </c:pt>
                <c:pt idx="2">
                  <c:v>12M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3.73222</c:v>
                </c:pt>
                <c:pt idx="1">
                  <c:v>3.84627</c:v>
                </c:pt>
                <c:pt idx="2">
                  <c:v>3.99367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EURIBOR</c:v>
                </c:pt>
              </c:strCache>
            </c:strRef>
          </c:tx>
          <c:spPr>
            <a:solidFill>
              <a:srgbClr val="C9A227"/>
            </a:solidFill>
          </c:spPr>
          <c:cat>
            <c:strRef>
              <c:f>Sheet1!$A$2:$A$4</c:f>
              <c:strCache>
                <c:ptCount val="3"/>
                <c:pt idx="0">
                  <c:v>3M</c:v>
                </c:pt>
                <c:pt idx="1">
                  <c:v>6M</c:v>
                </c:pt>
                <c:pt idx="2">
                  <c:v>12M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2.291</c:v>
                </c:pt>
                <c:pt idx="1">
                  <c:v>2.596</c:v>
                </c:pt>
                <c:pt idx="2">
                  <c:v>2.764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 money</c:v>
                </c:pt>
              </c:strCache>
            </c:strRef>
          </c:tx>
          <c:spPr>
            <a:ln w="28575">
              <a:solidFill>
                <a:srgbClr val="1E2761"/>
              </a:solidFill>
            </a:ln>
          </c:spPr>
          <c:marker>
            <c:symbol val="circle"/>
            <c:spPr>
              <a:solidFill>
                <a:srgbClr val="1E2761"/>
              </a:solidFill>
              <a:ln>
                <a:solidFill>
                  <a:srgbClr val="1E2761"/>
                </a:solidFill>
              </a:ln>
            </c:spPr>
          </c:marker>
          <c:cat>
            <c:strRef>
              <c:f>Sheet1!$A$2:$A$15</c:f>
              <c:strCache>
                <c:ptCount val="14"/>
                <c:pt idx="0">
                  <c:v>25-05</c:v>
                </c:pt>
                <c:pt idx="1">
                  <c:v>25-06</c:v>
                </c:pt>
                <c:pt idx="2">
                  <c:v>25-07</c:v>
                </c:pt>
                <c:pt idx="3">
                  <c:v>25-08</c:v>
                </c:pt>
                <c:pt idx="4">
                  <c:v>25-09</c:v>
                </c:pt>
                <c:pt idx="5">
                  <c:v>25-10</c:v>
                </c:pt>
                <c:pt idx="6">
                  <c:v>25-11</c:v>
                </c:pt>
                <c:pt idx="7">
                  <c:v>25-12</c:v>
                </c:pt>
                <c:pt idx="8">
                  <c:v>26-01</c:v>
                </c:pt>
                <c:pt idx="9">
                  <c:v>26-02</c:v>
                </c:pt>
                <c:pt idx="10">
                  <c:v>26-03</c:v>
                </c:pt>
                <c:pt idx="11">
                  <c:v>26-04</c:v>
                </c:pt>
                <c:pt idx="12">
                  <c:v>26-05</c:v>
                </c:pt>
                <c:pt idx="13">
                  <c:v>26-06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9.2</c:v>
                </c:pt>
                <c:pt idx="1">
                  <c:v>9.4</c:v>
                </c:pt>
                <c:pt idx="2">
                  <c:v>9.8</c:v>
                </c:pt>
                <c:pt idx="3">
                  <c:v>10.1</c:v>
                </c:pt>
                <c:pt idx="4">
                  <c:v>9.95</c:v>
                </c:pt>
                <c:pt idx="5">
                  <c:v>10.0</c:v>
                </c:pt>
                <c:pt idx="6">
                  <c:v>10.05</c:v>
                </c:pt>
                <c:pt idx="7">
                  <c:v>10.1</c:v>
                </c:pt>
                <c:pt idx="8">
                  <c:v>10.05</c:v>
                </c:pt>
                <c:pt idx="9">
                  <c:v>10.0</c:v>
                </c:pt>
                <c:pt idx="10">
                  <c:v>9.95</c:v>
                </c:pt>
                <c:pt idx="11">
                  <c:v>10.0</c:v>
                </c:pt>
                <c:pt idx="12">
                  <c:v>10.0</c:v>
                </c:pt>
                <c:pt idx="13">
                  <c:v>9.9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Policy repo</c:v>
                </c:pt>
              </c:strCache>
            </c:strRef>
          </c:tx>
          <c:spPr>
            <a:ln w="28575">
              <a:solidFill>
                <a:srgbClr val="C9A227"/>
              </a:solidFill>
            </a:ln>
          </c:spPr>
          <c:marker>
            <c:symbol val="circle"/>
            <c:spPr>
              <a:solidFill>
                <a:srgbClr val="C9A227"/>
              </a:solidFill>
              <a:ln>
                <a:solidFill>
                  <a:srgbClr val="C9A227"/>
                </a:solidFill>
              </a:ln>
            </c:spPr>
          </c:marker>
          <c:cat>
            <c:strRef>
              <c:f>Sheet1!$A$2:$A$15</c:f>
              <c:strCache>
                <c:ptCount val="14"/>
                <c:pt idx="0">
                  <c:v>25-05</c:v>
                </c:pt>
                <c:pt idx="1">
                  <c:v>25-06</c:v>
                </c:pt>
                <c:pt idx="2">
                  <c:v>25-07</c:v>
                </c:pt>
                <c:pt idx="3">
                  <c:v>25-08</c:v>
                </c:pt>
                <c:pt idx="4">
                  <c:v>25-09</c:v>
                </c:pt>
                <c:pt idx="5">
                  <c:v>25-10</c:v>
                </c:pt>
                <c:pt idx="6">
                  <c:v>25-11</c:v>
                </c:pt>
                <c:pt idx="7">
                  <c:v>25-12</c:v>
                </c:pt>
                <c:pt idx="8">
                  <c:v>26-01</c:v>
                </c:pt>
                <c:pt idx="9">
                  <c:v>26-02</c:v>
                </c:pt>
                <c:pt idx="10">
                  <c:v>26-03</c:v>
                </c:pt>
                <c:pt idx="11">
                  <c:v>26-04</c:v>
                </c:pt>
                <c:pt idx="12">
                  <c:v>26-05</c:v>
                </c:pt>
                <c:pt idx="13">
                  <c:v>26-06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10</c:v>
                </c:pt>
                <c:pt idx="7">
                  <c:v>10</c:v>
                </c:pt>
                <c:pt idx="8">
                  <c:v>10</c:v>
                </c:pt>
                <c:pt idx="9">
                  <c:v>10</c:v>
                </c:pt>
                <c:pt idx="10">
                  <c:v>10</c:v>
                </c:pt>
                <c:pt idx="11">
                  <c:v>10</c:v>
                </c:pt>
                <c:pt idx="12">
                  <c:v>10</c:v>
                </c:pt>
                <c:pt idx="13">
                  <c:v>10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This week</c:v>
                </c:pt>
              </c:strCache>
            </c:strRef>
          </c:tx>
          <c:spPr>
            <a:ln w="28575">
              <a:solidFill>
                <a:srgbClr val="1E2761"/>
              </a:solidFill>
            </a:ln>
          </c:spPr>
          <c:marker>
            <c:symbol val="circle"/>
            <c:spPr>
              <a:solidFill>
                <a:srgbClr val="1E2761"/>
              </a:solidFill>
              <a:ln>
                <a:solidFill>
                  <a:srgbClr val="1E2761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91D</c:v>
                </c:pt>
                <c:pt idx="1">
                  <c:v>182D</c:v>
                </c:pt>
                <c:pt idx="2">
                  <c:v>364D</c:v>
                </c:pt>
                <c:pt idx="3">
                  <c:v>2Y</c:v>
                </c:pt>
                <c:pt idx="4">
                  <c:v>5Y</c:v>
                </c:pt>
                <c:pt idx="5">
                  <c:v>10Y</c:v>
                </c:pt>
                <c:pt idx="6">
                  <c:v>20Y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9.6985</c:v>
                </c:pt>
                <c:pt idx="1">
                  <c:v>9.89</c:v>
                </c:pt>
                <c:pt idx="2">
                  <c:v>9.9255</c:v>
                </c:pt>
                <c:pt idx="3">
                  <c:v>10.43</c:v>
                </c:pt>
                <c:pt idx="4">
                  <c:v>10.3502</c:v>
                </c:pt>
                <c:pt idx="5">
                  <c:v>10.24</c:v>
                </c:pt>
                <c:pt idx="6">
                  <c:v>10.34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Last week</c:v>
                </c:pt>
              </c:strCache>
            </c:strRef>
          </c:tx>
          <c:spPr>
            <a:ln w="28575">
              <a:solidFill>
                <a:srgbClr val="C9A227"/>
              </a:solidFill>
            </a:ln>
          </c:spPr>
          <c:marker>
            <c:symbol val="circle"/>
            <c:spPr>
              <a:solidFill>
                <a:srgbClr val="C9A227"/>
              </a:solidFill>
              <a:ln>
                <a:solidFill>
                  <a:srgbClr val="C9A227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91D</c:v>
                </c:pt>
                <c:pt idx="1">
                  <c:v>182D</c:v>
                </c:pt>
                <c:pt idx="2">
                  <c:v>364D</c:v>
                </c:pt>
                <c:pt idx="3">
                  <c:v>2Y</c:v>
                </c:pt>
                <c:pt idx="4">
                  <c:v>5Y</c:v>
                </c:pt>
                <c:pt idx="5">
                  <c:v>10Y</c:v>
                </c:pt>
                <c:pt idx="6">
                  <c:v>20Y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11.2</c:v>
                </c:pt>
                <c:pt idx="1">
                  <c:v>11.35</c:v>
                </c:pt>
                <c:pt idx="2">
                  <c:v>11.5</c:v>
                </c:pt>
                <c:pt idx="3">
                  <c:v>11.55</c:v>
                </c:pt>
                <c:pt idx="4">
                  <c:v>11.25</c:v>
                </c:pt>
                <c:pt idx="5">
                  <c:v>10.2</c:v>
                </c:pt>
                <c:pt idx="6">
                  <c:v>10.85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Point-to-point</c:v>
                </c:pt>
              </c:strCache>
            </c:strRef>
          </c:tx>
          <c:spPr>
            <a:ln w="28575">
              <a:solidFill>
                <a:srgbClr val="1E2761"/>
              </a:solidFill>
            </a:ln>
          </c:spPr>
          <c:marker>
            <c:symbol val="circle"/>
            <c:spPr>
              <a:solidFill>
                <a:srgbClr val="1E2761"/>
              </a:solidFill>
              <a:ln>
                <a:solidFill>
                  <a:srgbClr val="1E2761"/>
                </a:solidFill>
              </a:ln>
            </c:spPr>
          </c:marker>
          <c:cat>
            <c:strRef>
              <c:f>Sheet1!$A$2:$A$15</c:f>
              <c:strCache>
                <c:ptCount val="14"/>
                <c:pt idx="0">
                  <c:v>25-05</c:v>
                </c:pt>
                <c:pt idx="1">
                  <c:v>25-06</c:v>
                </c:pt>
                <c:pt idx="2">
                  <c:v>25-07</c:v>
                </c:pt>
                <c:pt idx="3">
                  <c:v>25-08</c:v>
                </c:pt>
                <c:pt idx="4">
                  <c:v>25-09</c:v>
                </c:pt>
                <c:pt idx="5">
                  <c:v>25-10</c:v>
                </c:pt>
                <c:pt idx="6">
                  <c:v>25-11</c:v>
                </c:pt>
                <c:pt idx="7">
                  <c:v>25-12</c:v>
                </c:pt>
                <c:pt idx="8">
                  <c:v>26-01</c:v>
                </c:pt>
                <c:pt idx="9">
                  <c:v>26-02</c:v>
                </c:pt>
                <c:pt idx="10">
                  <c:v>26-03</c:v>
                </c:pt>
                <c:pt idx="11">
                  <c:v>26-04</c:v>
                </c:pt>
                <c:pt idx="12">
                  <c:v>26-05</c:v>
                </c:pt>
                <c:pt idx="13">
                  <c:v>26-06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9.05</c:v>
                </c:pt>
                <c:pt idx="1">
                  <c:v>8.48</c:v>
                </c:pt>
                <c:pt idx="2">
                  <c:v>8.55</c:v>
                </c:pt>
                <c:pt idx="3">
                  <c:v>8.29</c:v>
                </c:pt>
                <c:pt idx="4">
                  <c:v>8.1</c:v>
                </c:pt>
                <c:pt idx="5">
                  <c:v>8.2</c:v>
                </c:pt>
                <c:pt idx="6">
                  <c:v>7.95</c:v>
                </c:pt>
                <c:pt idx="7">
                  <c:v>8.3</c:v>
                </c:pt>
                <c:pt idx="8">
                  <c:v>8.58</c:v>
                </c:pt>
                <c:pt idx="9">
                  <c:v>9.13</c:v>
                </c:pt>
                <c:pt idx="10">
                  <c:v>8.71</c:v>
                </c:pt>
                <c:pt idx="11">
                  <c:v>9.04</c:v>
                </c:pt>
                <c:pt idx="12">
                  <c:v>9.42</c:v>
                </c:pt>
                <c:pt idx="13">
                  <c:v>9.42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12-month avg</c:v>
                </c:pt>
              </c:strCache>
            </c:strRef>
          </c:tx>
          <c:spPr>
            <a:ln w="28575">
              <a:solidFill>
                <a:srgbClr val="C9A227"/>
              </a:solidFill>
            </a:ln>
          </c:spPr>
          <c:marker>
            <c:symbol val="circle"/>
            <c:spPr>
              <a:solidFill>
                <a:srgbClr val="C9A227"/>
              </a:solidFill>
              <a:ln>
                <a:solidFill>
                  <a:srgbClr val="C9A227"/>
                </a:solidFill>
              </a:ln>
            </c:spPr>
          </c:marker>
          <c:cat>
            <c:strRef>
              <c:f>Sheet1!$A$2:$A$15</c:f>
              <c:strCache>
                <c:ptCount val="14"/>
                <c:pt idx="0">
                  <c:v>25-05</c:v>
                </c:pt>
                <c:pt idx="1">
                  <c:v>25-06</c:v>
                </c:pt>
                <c:pt idx="2">
                  <c:v>25-07</c:v>
                </c:pt>
                <c:pt idx="3">
                  <c:v>25-08</c:v>
                </c:pt>
                <c:pt idx="4">
                  <c:v>25-09</c:v>
                </c:pt>
                <c:pt idx="5">
                  <c:v>25-10</c:v>
                </c:pt>
                <c:pt idx="6">
                  <c:v>25-11</c:v>
                </c:pt>
                <c:pt idx="7">
                  <c:v>25-12</c:v>
                </c:pt>
                <c:pt idx="8">
                  <c:v>26-01</c:v>
                </c:pt>
                <c:pt idx="9">
                  <c:v>26-02</c:v>
                </c:pt>
                <c:pt idx="10">
                  <c:v>26-03</c:v>
                </c:pt>
                <c:pt idx="11">
                  <c:v>26-04</c:v>
                </c:pt>
                <c:pt idx="12">
                  <c:v>26-05</c:v>
                </c:pt>
                <c:pt idx="13">
                  <c:v>26-06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10.2</c:v>
                </c:pt>
                <c:pt idx="1">
                  <c:v>10.05</c:v>
                </c:pt>
                <c:pt idx="2">
                  <c:v>9.9</c:v>
                </c:pt>
                <c:pt idx="3">
                  <c:v>9.7</c:v>
                </c:pt>
                <c:pt idx="4">
                  <c:v>9.5</c:v>
                </c:pt>
                <c:pt idx="5">
                  <c:v>9.3</c:v>
                </c:pt>
                <c:pt idx="6">
                  <c:v>9.1</c:v>
                </c:pt>
                <c:pt idx="7">
                  <c:v>8.95</c:v>
                </c:pt>
                <c:pt idx="8">
                  <c:v>8.85</c:v>
                </c:pt>
                <c:pt idx="9">
                  <c:v>8.8</c:v>
                </c:pt>
                <c:pt idx="10">
                  <c:v>8.74</c:v>
                </c:pt>
                <c:pt idx="11">
                  <c:v>8.7</c:v>
                </c:pt>
                <c:pt idx="12">
                  <c:v>8.63</c:v>
                </c:pt>
                <c:pt idx="13">
                  <c:v>8.63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Export</c:v>
                </c:pt>
              </c:strCache>
            </c:strRef>
          </c:tx>
          <c:spPr>
            <a:ln w="28575">
              <a:solidFill>
                <a:srgbClr val="1E2761"/>
              </a:solidFill>
            </a:ln>
          </c:spPr>
          <c:marker>
            <c:symbol val="circle"/>
            <c:spPr>
              <a:solidFill>
                <a:srgbClr val="1E2761"/>
              </a:solidFill>
              <a:ln>
                <a:solidFill>
                  <a:srgbClr val="1E2761"/>
                </a:solidFill>
              </a:ln>
            </c:spPr>
          </c:marker>
          <c:cat>
            <c:strRef>
              <c:f>Sheet1!$A$2:$A$15</c:f>
              <c:strCache>
                <c:ptCount val="14"/>
                <c:pt idx="0">
                  <c:v>25-05</c:v>
                </c:pt>
                <c:pt idx="1">
                  <c:v>25-06</c:v>
                </c:pt>
                <c:pt idx="2">
                  <c:v>25-07</c:v>
                </c:pt>
                <c:pt idx="3">
                  <c:v>25-08</c:v>
                </c:pt>
                <c:pt idx="4">
                  <c:v>25-09</c:v>
                </c:pt>
                <c:pt idx="5">
                  <c:v>25-10</c:v>
                </c:pt>
                <c:pt idx="6">
                  <c:v>25-11</c:v>
                </c:pt>
                <c:pt idx="7">
                  <c:v>25-12</c:v>
                </c:pt>
                <c:pt idx="8">
                  <c:v>26-01</c:v>
                </c:pt>
                <c:pt idx="9">
                  <c:v>26-02</c:v>
                </c:pt>
                <c:pt idx="10">
                  <c:v>26-03</c:v>
                </c:pt>
                <c:pt idx="11">
                  <c:v>26-04</c:v>
                </c:pt>
                <c:pt idx="12">
                  <c:v>26-05</c:v>
                </c:pt>
                <c:pt idx="13">
                  <c:v>26-06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4.74</c:v>
                </c:pt>
                <c:pt idx="1">
                  <c:v>4.1</c:v>
                </c:pt>
                <c:pt idx="2">
                  <c:v>3.85</c:v>
                </c:pt>
                <c:pt idx="3">
                  <c:v>4.05</c:v>
                </c:pt>
                <c:pt idx="4">
                  <c:v>4.2</c:v>
                </c:pt>
                <c:pt idx="5">
                  <c:v>4.3</c:v>
                </c:pt>
                <c:pt idx="6">
                  <c:v>4.25</c:v>
                </c:pt>
                <c:pt idx="7">
                  <c:v>4.45</c:v>
                </c:pt>
                <c:pt idx="8">
                  <c:v>4.15</c:v>
                </c:pt>
                <c:pt idx="9">
                  <c:v>4.2</c:v>
                </c:pt>
                <c:pt idx="10">
                  <c:v>4.55</c:v>
                </c:pt>
                <c:pt idx="11">
                  <c:v>4.3</c:v>
                </c:pt>
                <c:pt idx="12">
                  <c:v>4.4</c:v>
                </c:pt>
                <c:pt idx="13">
                  <c:v>4.4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Import</c:v>
                </c:pt>
              </c:strCache>
            </c:strRef>
          </c:tx>
          <c:spPr>
            <a:ln w="28575">
              <a:solidFill>
                <a:srgbClr val="C9A227"/>
              </a:solidFill>
            </a:ln>
          </c:spPr>
          <c:marker>
            <c:symbol val="circle"/>
            <c:spPr>
              <a:solidFill>
                <a:srgbClr val="C9A227"/>
              </a:solidFill>
              <a:ln>
                <a:solidFill>
                  <a:srgbClr val="C9A227"/>
                </a:solidFill>
              </a:ln>
            </c:spPr>
          </c:marker>
          <c:cat>
            <c:strRef>
              <c:f>Sheet1!$A$2:$A$15</c:f>
              <c:strCache>
                <c:ptCount val="14"/>
                <c:pt idx="0">
                  <c:v>25-05</c:v>
                </c:pt>
                <c:pt idx="1">
                  <c:v>25-06</c:v>
                </c:pt>
                <c:pt idx="2">
                  <c:v>25-07</c:v>
                </c:pt>
                <c:pt idx="3">
                  <c:v>25-08</c:v>
                </c:pt>
                <c:pt idx="4">
                  <c:v>25-09</c:v>
                </c:pt>
                <c:pt idx="5">
                  <c:v>25-10</c:v>
                </c:pt>
                <c:pt idx="6">
                  <c:v>25-11</c:v>
                </c:pt>
                <c:pt idx="7">
                  <c:v>25-12</c:v>
                </c:pt>
                <c:pt idx="8">
                  <c:v>26-01</c:v>
                </c:pt>
                <c:pt idx="9">
                  <c:v>26-02</c:v>
                </c:pt>
                <c:pt idx="10">
                  <c:v>26-03</c:v>
                </c:pt>
                <c:pt idx="11">
                  <c:v>26-04</c:v>
                </c:pt>
                <c:pt idx="12">
                  <c:v>26-05</c:v>
                </c:pt>
                <c:pt idx="13">
                  <c:v>26-06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5.3</c:v>
                </c:pt>
                <c:pt idx="1">
                  <c:v>5.45</c:v>
                </c:pt>
                <c:pt idx="2">
                  <c:v>5.2</c:v>
                </c:pt>
                <c:pt idx="3">
                  <c:v>5.35</c:v>
                </c:pt>
                <c:pt idx="4">
                  <c:v>5.5</c:v>
                </c:pt>
                <c:pt idx="5">
                  <c:v>5.4</c:v>
                </c:pt>
                <c:pt idx="6">
                  <c:v>5.55</c:v>
                </c:pt>
                <c:pt idx="7">
                  <c:v>5.7</c:v>
                </c:pt>
                <c:pt idx="8">
                  <c:v>5.45</c:v>
                </c:pt>
                <c:pt idx="9">
                  <c:v>5.5</c:v>
                </c:pt>
                <c:pt idx="10">
                  <c:v>5.65</c:v>
                </c:pt>
                <c:pt idx="11">
                  <c:v>5.6</c:v>
                </c:pt>
                <c:pt idx="12">
                  <c:v>5.8</c:v>
                </c:pt>
                <c:pt idx="13">
                  <c:v>5.8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Remittance</c:v>
                </c:pt>
              </c:strCache>
            </c:strRef>
          </c:tx>
          <c:spPr>
            <a:ln w="28575">
              <a:solidFill>
                <a:srgbClr val="1E8E5A"/>
              </a:solidFill>
            </a:ln>
          </c:spPr>
          <c:marker>
            <c:symbol val="circle"/>
            <c:spPr>
              <a:solidFill>
                <a:srgbClr val="1E8E5A"/>
              </a:solidFill>
              <a:ln>
                <a:solidFill>
                  <a:srgbClr val="1E8E5A"/>
                </a:solidFill>
              </a:ln>
            </c:spPr>
          </c:marker>
          <c:cat>
            <c:strRef>
              <c:f>Sheet1!$A$2:$A$15</c:f>
              <c:strCache>
                <c:ptCount val="14"/>
                <c:pt idx="0">
                  <c:v>25-05</c:v>
                </c:pt>
                <c:pt idx="1">
                  <c:v>25-06</c:v>
                </c:pt>
                <c:pt idx="2">
                  <c:v>25-07</c:v>
                </c:pt>
                <c:pt idx="3">
                  <c:v>25-08</c:v>
                </c:pt>
                <c:pt idx="4">
                  <c:v>25-09</c:v>
                </c:pt>
                <c:pt idx="5">
                  <c:v>25-10</c:v>
                </c:pt>
                <c:pt idx="6">
                  <c:v>25-11</c:v>
                </c:pt>
                <c:pt idx="7">
                  <c:v>25-12</c:v>
                </c:pt>
                <c:pt idx="8">
                  <c:v>26-01</c:v>
                </c:pt>
                <c:pt idx="9">
                  <c:v>26-02</c:v>
                </c:pt>
                <c:pt idx="10">
                  <c:v>26-03</c:v>
                </c:pt>
                <c:pt idx="11">
                  <c:v>26-04</c:v>
                </c:pt>
                <c:pt idx="12">
                  <c:v>26-05</c:v>
                </c:pt>
                <c:pt idx="13">
                  <c:v>26-06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2.97</c:v>
                </c:pt>
                <c:pt idx="1">
                  <c:v>2.82</c:v>
                </c:pt>
                <c:pt idx="2">
                  <c:v>2.47</c:v>
                </c:pt>
                <c:pt idx="3">
                  <c:v>2.42</c:v>
                </c:pt>
                <c:pt idx="4">
                  <c:v>2.55</c:v>
                </c:pt>
                <c:pt idx="5">
                  <c:v>2.56</c:v>
                </c:pt>
                <c:pt idx="6">
                  <c:v>2.49</c:v>
                </c:pt>
                <c:pt idx="7">
                  <c:v>2.92</c:v>
                </c:pt>
                <c:pt idx="8">
                  <c:v>2.6</c:v>
                </c:pt>
                <c:pt idx="9">
                  <c:v>2.55</c:v>
                </c:pt>
                <c:pt idx="10">
                  <c:v>2.95</c:v>
                </c:pt>
                <c:pt idx="11">
                  <c:v>3.12</c:v>
                </c:pt>
                <c:pt idx="12">
                  <c:v>3.43</c:v>
                </c:pt>
                <c:pt idx="13">
                  <c:v>3.43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</c:v>
                </c:pt>
              </c:strCache>
            </c:strRef>
          </c:tx>
          <c:spPr>
            <a:ln w="28575">
              <a:solidFill>
                <a:srgbClr val="1E2761"/>
              </a:solidFill>
            </a:ln>
          </c:spPr>
          <c:marker>
            <c:symbol val="circle"/>
            <c:spPr>
              <a:solidFill>
                <a:srgbClr val="1E2761"/>
              </a:solidFill>
              <a:ln>
                <a:solidFill>
                  <a:srgbClr val="1E2761"/>
                </a:solidFill>
              </a:ln>
            </c:spPr>
          </c:marker>
          <c:cat>
            <c:strRef>
              <c:f>Sheet1!$A$2:$A$15</c:f>
              <c:strCache>
                <c:ptCount val="14"/>
                <c:pt idx="0">
                  <c:v>25-05</c:v>
                </c:pt>
                <c:pt idx="1">
                  <c:v>25-06</c:v>
                </c:pt>
                <c:pt idx="2">
                  <c:v>25-07</c:v>
                </c:pt>
                <c:pt idx="3">
                  <c:v>25-08</c:v>
                </c:pt>
                <c:pt idx="4">
                  <c:v>25-09</c:v>
                </c:pt>
                <c:pt idx="5">
                  <c:v>25-10</c:v>
                </c:pt>
                <c:pt idx="6">
                  <c:v>25-11</c:v>
                </c:pt>
                <c:pt idx="7">
                  <c:v>25-12</c:v>
                </c:pt>
                <c:pt idx="8">
                  <c:v>26-01</c:v>
                </c:pt>
                <c:pt idx="9">
                  <c:v>26-02</c:v>
                </c:pt>
                <c:pt idx="10">
                  <c:v>26-03</c:v>
                </c:pt>
                <c:pt idx="11">
                  <c:v>26-04</c:v>
                </c:pt>
                <c:pt idx="12">
                  <c:v>26-05</c:v>
                </c:pt>
                <c:pt idx="13">
                  <c:v>26-06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31.4</c:v>
                </c:pt>
                <c:pt idx="1">
                  <c:v>31.7</c:v>
                </c:pt>
                <c:pt idx="2">
                  <c:v>30.9</c:v>
                </c:pt>
                <c:pt idx="3">
                  <c:v>31.5</c:v>
                </c:pt>
                <c:pt idx="4">
                  <c:v>31.8</c:v>
                </c:pt>
                <c:pt idx="5">
                  <c:v>32.34</c:v>
                </c:pt>
                <c:pt idx="6">
                  <c:v>32.8</c:v>
                </c:pt>
                <c:pt idx="7">
                  <c:v>33.2</c:v>
                </c:pt>
                <c:pt idx="8">
                  <c:v>33.6</c:v>
                </c:pt>
                <c:pt idx="9">
                  <c:v>34.1</c:v>
                </c:pt>
                <c:pt idx="10">
                  <c:v>34.4</c:v>
                </c:pt>
                <c:pt idx="11">
                  <c:v>35.11</c:v>
                </c:pt>
                <c:pt idx="12">
                  <c:v>34.55</c:v>
                </c:pt>
                <c:pt idx="13">
                  <c:v>34.55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BPM6</c:v>
                </c:pt>
              </c:strCache>
            </c:strRef>
          </c:tx>
          <c:spPr>
            <a:ln w="28575">
              <a:solidFill>
                <a:srgbClr val="C9A227"/>
              </a:solidFill>
            </a:ln>
          </c:spPr>
          <c:marker>
            <c:symbol val="circle"/>
            <c:spPr>
              <a:solidFill>
                <a:srgbClr val="C9A227"/>
              </a:solidFill>
              <a:ln>
                <a:solidFill>
                  <a:srgbClr val="C9A227"/>
                </a:solidFill>
              </a:ln>
            </c:spPr>
          </c:marker>
          <c:cat>
            <c:strRef>
              <c:f>Sheet1!$A$2:$A$15</c:f>
              <c:strCache>
                <c:ptCount val="14"/>
                <c:pt idx="0">
                  <c:v>25-05</c:v>
                </c:pt>
                <c:pt idx="1">
                  <c:v>25-06</c:v>
                </c:pt>
                <c:pt idx="2">
                  <c:v>25-07</c:v>
                </c:pt>
                <c:pt idx="3">
                  <c:v>25-08</c:v>
                </c:pt>
                <c:pt idx="4">
                  <c:v>25-09</c:v>
                </c:pt>
                <c:pt idx="5">
                  <c:v>25-10</c:v>
                </c:pt>
                <c:pt idx="6">
                  <c:v>25-11</c:v>
                </c:pt>
                <c:pt idx="7">
                  <c:v>25-12</c:v>
                </c:pt>
                <c:pt idx="8">
                  <c:v>26-01</c:v>
                </c:pt>
                <c:pt idx="9">
                  <c:v>26-02</c:v>
                </c:pt>
                <c:pt idx="10">
                  <c:v>26-03</c:v>
                </c:pt>
                <c:pt idx="11">
                  <c:v>26-04</c:v>
                </c:pt>
                <c:pt idx="12">
                  <c:v>26-05</c:v>
                </c:pt>
                <c:pt idx="13">
                  <c:v>26-06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27.0</c:v>
                </c:pt>
                <c:pt idx="1">
                  <c:v>26.7</c:v>
                </c:pt>
                <c:pt idx="2">
                  <c:v>26.1</c:v>
                </c:pt>
                <c:pt idx="3">
                  <c:v>26.8</c:v>
                </c:pt>
                <c:pt idx="4">
                  <c:v>27.0</c:v>
                </c:pt>
                <c:pt idx="5">
                  <c:v>27.58</c:v>
                </c:pt>
                <c:pt idx="6">
                  <c:v>28.0</c:v>
                </c:pt>
                <c:pt idx="7">
                  <c:v>28.51</c:v>
                </c:pt>
                <c:pt idx="8">
                  <c:v>28.9</c:v>
                </c:pt>
                <c:pt idx="9">
                  <c:v>29.47</c:v>
                </c:pt>
                <c:pt idx="10">
                  <c:v>29.9</c:v>
                </c:pt>
                <c:pt idx="11">
                  <c:v>30.6</c:v>
                </c:pt>
                <c:pt idx="12">
                  <c:v>30.0</c:v>
                </c:pt>
                <c:pt idx="13">
                  <c:v>30.0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Gold</c:v>
                </c:pt>
              </c:strCache>
            </c:strRef>
          </c:tx>
          <c:spPr>
            <a:ln w="28575">
              <a:solidFill>
                <a:srgbClr val="1E2761"/>
              </a:solidFill>
            </a:ln>
          </c:spPr>
          <c:marker>
            <c:symbol val="circle"/>
            <c:spPr>
              <a:solidFill>
                <a:srgbClr val="1E2761"/>
              </a:solidFill>
              <a:ln>
                <a:solidFill>
                  <a:srgbClr val="1E2761"/>
                </a:solidFill>
              </a:ln>
            </c:spPr>
          </c:marker>
          <c:cat>
            <c:strRef>
              <c:f>Sheet1!$A$2:$A$15</c:f>
              <c:strCache>
                <c:ptCount val="14"/>
                <c:pt idx="0">
                  <c:v>25-05</c:v>
                </c:pt>
                <c:pt idx="1">
                  <c:v>25-06</c:v>
                </c:pt>
                <c:pt idx="2">
                  <c:v>25-07</c:v>
                </c:pt>
                <c:pt idx="3">
                  <c:v>25-08</c:v>
                </c:pt>
                <c:pt idx="4">
                  <c:v>25-09</c:v>
                </c:pt>
                <c:pt idx="5">
                  <c:v>25-10</c:v>
                </c:pt>
                <c:pt idx="6">
                  <c:v>25-11</c:v>
                </c:pt>
                <c:pt idx="7">
                  <c:v>25-12</c:v>
                </c:pt>
                <c:pt idx="8">
                  <c:v>26-01</c:v>
                </c:pt>
                <c:pt idx="9">
                  <c:v>26-02</c:v>
                </c:pt>
                <c:pt idx="10">
                  <c:v>26-03</c:v>
                </c:pt>
                <c:pt idx="11">
                  <c:v>26-04</c:v>
                </c:pt>
                <c:pt idx="12">
                  <c:v>26-05</c:v>
                </c:pt>
                <c:pt idx="13">
                  <c:v>26-06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2380</c:v>
                </c:pt>
                <c:pt idx="1">
                  <c:v>2450</c:v>
                </c:pt>
                <c:pt idx="2">
                  <c:v>2550</c:v>
                </c:pt>
                <c:pt idx="3">
                  <c:v>2650</c:v>
                </c:pt>
                <c:pt idx="4">
                  <c:v>2800</c:v>
                </c:pt>
                <c:pt idx="5">
                  <c:v>2950</c:v>
                </c:pt>
                <c:pt idx="6">
                  <c:v>3150</c:v>
                </c:pt>
                <c:pt idx="7">
                  <c:v>3400</c:v>
                </c:pt>
                <c:pt idx="8">
                  <c:v>4250</c:v>
                </c:pt>
                <c:pt idx="9">
                  <c:v>4150</c:v>
                </c:pt>
                <c:pt idx="10">
                  <c:v>4080</c:v>
                </c:pt>
                <c:pt idx="11">
                  <c:v>4050</c:v>
                </c:pt>
                <c:pt idx="12">
                  <c:v>4000</c:v>
                </c:pt>
                <c:pt idx="13">
                  <c:v>4000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Brent</c:v>
                </c:pt>
              </c:strCache>
            </c:strRef>
          </c:tx>
          <c:spPr>
            <a:ln w="28575">
              <a:solidFill>
                <a:srgbClr val="1E2761"/>
              </a:solidFill>
            </a:ln>
          </c:spPr>
          <c:marker>
            <c:symbol val="circle"/>
            <c:spPr>
              <a:solidFill>
                <a:srgbClr val="1E2761"/>
              </a:solidFill>
              <a:ln>
                <a:solidFill>
                  <a:srgbClr val="1E2761"/>
                </a:solidFill>
              </a:ln>
            </c:spPr>
          </c:marker>
          <c:cat>
            <c:strRef>
              <c:f>Sheet1!$A$2:$A$15</c:f>
              <c:strCache>
                <c:ptCount val="14"/>
                <c:pt idx="0">
                  <c:v>25-05</c:v>
                </c:pt>
                <c:pt idx="1">
                  <c:v>25-06</c:v>
                </c:pt>
                <c:pt idx="2">
                  <c:v>25-07</c:v>
                </c:pt>
                <c:pt idx="3">
                  <c:v>25-08</c:v>
                </c:pt>
                <c:pt idx="4">
                  <c:v>25-09</c:v>
                </c:pt>
                <c:pt idx="5">
                  <c:v>25-10</c:v>
                </c:pt>
                <c:pt idx="6">
                  <c:v>25-11</c:v>
                </c:pt>
                <c:pt idx="7">
                  <c:v>25-12</c:v>
                </c:pt>
                <c:pt idx="8">
                  <c:v>26-01</c:v>
                </c:pt>
                <c:pt idx="9">
                  <c:v>26-02</c:v>
                </c:pt>
                <c:pt idx="10">
                  <c:v>26-03</c:v>
                </c:pt>
                <c:pt idx="11">
                  <c:v>26-04</c:v>
                </c:pt>
                <c:pt idx="12">
                  <c:v>26-05</c:v>
                </c:pt>
                <c:pt idx="13">
                  <c:v>26-06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80</c:v>
                </c:pt>
                <c:pt idx="1">
                  <c:v>79</c:v>
                </c:pt>
                <c:pt idx="2">
                  <c:v>77</c:v>
                </c:pt>
                <c:pt idx="3">
                  <c:v>76</c:v>
                </c:pt>
                <c:pt idx="4">
                  <c:v>75</c:v>
                </c:pt>
                <c:pt idx="5">
                  <c:v>74</c:v>
                </c:pt>
                <c:pt idx="6">
                  <c:v>73</c:v>
                </c:pt>
                <c:pt idx="7">
                  <c:v>75</c:v>
                </c:pt>
                <c:pt idx="8">
                  <c:v>78</c:v>
                </c:pt>
                <c:pt idx="9">
                  <c:v>80</c:v>
                </c:pt>
                <c:pt idx="10">
                  <c:v>84</c:v>
                </c:pt>
                <c:pt idx="11">
                  <c:v>88</c:v>
                </c:pt>
                <c:pt idx="12">
                  <c:v>85</c:v>
                </c:pt>
                <c:pt idx="13">
                  <c:v>85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1554480"/>
            <a:ext cx="201168" cy="201168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17320"/>
            <a:ext cx="8229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BANGLADESH  MACRO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1078992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mbria"/>
              </a:rPr>
              <a:t>DCM Weekly : দেশী Macro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37560"/>
            <a:ext cx="104241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000" b="0" i="1">
                <a:solidFill>
                  <a:srgbClr val="CADCFC"/>
                </a:solidFill>
                <a:latin typeface="Cambria"/>
              </a:rPr>
              <a:t>Rates, FX, the External Sector &amp; Global Markets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114800"/>
            <a:ext cx="10515600" cy="1463040"/>
          </a:xfrm>
          <a:prstGeom prst="roundRect">
            <a:avLst/>
          </a:prstGeom>
          <a:solidFill>
            <a:srgbClr val="1A2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261104"/>
            <a:ext cx="996696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New Monetary Policy declared. The contractionary stance prevails with a new rule to improve credit growth - limiting spread between the deposit and lending rates of commercial banks. The move has been highly crticized already and practitioners believe the central bank will move away from this action.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897880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Week ending  </a:t>
            </a:r>
            <a:r>
              <a:rPr sz="1300" b="1" i="0">
                <a:solidFill>
                  <a:srgbClr val="FFFFFF"/>
                </a:solidFill>
                <a:latin typeface="Calibri"/>
              </a:rPr>
              <a:t>June 29,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26364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Industry Professionals Only - Domestic Bangladeshi Market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5897880"/>
            <a:ext cx="2651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Prepared by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144768"/>
            <a:ext cx="2651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Calibri"/>
              </a:rPr>
              <a:t>Md. Sohel Rahman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566928"/>
            <a:ext cx="146304" cy="14630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768096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mbria"/>
              </a:rPr>
              <a:t>Executive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Bangladesh Macro Weekly  -  week ending June 29,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55664"/>
            <a:ext cx="167335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Internal Usage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107899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Week-on-week moves. Green = favourable, red = adverse, grey = market/neutral.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1792" y="1965960"/>
            <a:ext cx="91440" cy="9144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892807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Interbank (WAR)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14884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122.84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50545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C0392B"/>
                </a:solidFill>
                <a:latin typeface="Calibri"/>
              </a:rPr>
              <a:t>▲ 0.34  WoW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178308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02152" y="1965960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48456" y="1892807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BC Selling (Prime)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2152" y="214884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123.50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2152" y="250545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- 0.00  WoW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78308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82512" y="1965960"/>
            <a:ext cx="91440" cy="91440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28816" y="1892807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SOFR 3M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82512" y="214884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3.73%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250545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▼ 0.01 pp  WoW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178308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62872" y="1965960"/>
            <a:ext cx="91440" cy="91440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09176" y="1892807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Policy (Repo) 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62872" y="214884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10.00%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62872" y="250545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- 0.00 pp  WoW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297180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21792" y="3154680"/>
            <a:ext cx="91440" cy="91440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6" y="3081528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Call Money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" y="333756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9.75%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" y="369417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▼ 0.25 pp  WoW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37560" y="297180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502152" y="3154680"/>
            <a:ext cx="91440" cy="91440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48456" y="3081528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T-Bill 91D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02152" y="333756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9.70%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02152" y="369417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▼ 1.50 pp  WoW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297180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382512" y="3154680"/>
            <a:ext cx="91440" cy="91440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28816" y="3081528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T-Bond 10Y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82512" y="333756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10.24%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82512" y="369417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▲ 0.04 pp  WoW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098280" y="297180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262872" y="3154680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409176" y="3081528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P2P Inflation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62872" y="333756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9.42%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62872" y="369417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- 0.00 pp  WoW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7200" y="416052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21792" y="4343400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68096" y="4270248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Inflation (12M avg)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1792" y="452628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8.63%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1792" y="488289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- 0.00 pp  WoW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337560" y="416052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502152" y="4343400"/>
            <a:ext cx="91440" cy="91440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48456" y="4270248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Import (monthly)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02152" y="452628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5.80 $bn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02152" y="488289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- 0.00%  WoW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217920" y="416052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382512" y="4343400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28816" y="4270248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Export (monthly)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82512" y="452628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4.40 $bn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82512" y="488289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- 0.00%  WoW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098280" y="416052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262872" y="4343400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409176" y="4270248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Remittance (monthly)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262872" y="452628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3.43 $bn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62872" y="488289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- 0.00%  WoW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57200" y="534924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21792" y="5532120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68096" y="5458968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Reserve Gross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1792" y="571500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36.08 $bn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1792" y="607161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- 0.00  WoW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337560" y="534924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3502152" y="5532120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48456" y="5458968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Reserve BPM6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502152" y="571500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31.53 $bn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502152" y="607161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- 0.00  WoW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17920" y="534924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382512" y="5532120"/>
            <a:ext cx="91440" cy="91440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28816" y="5458968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Gold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82512" y="571500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4,000 $/oz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82512" y="607161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- 0.00%  WoW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098280" y="534924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262872" y="5532120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409176" y="5458968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Oil (Brent)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262872" y="571500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73.00 $/bbl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262872" y="607161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- 0.00%  WoW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566928"/>
            <a:ext cx="146304" cy="14630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CURRENCY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768096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mbria"/>
              </a:rPr>
              <a:t>FX &amp; Exchange Rates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Bangladesh Macro Weekly  -  week ending June 29,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55664"/>
            <a:ext cx="167335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Internal Usage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649224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00784"/>
            <a:ext cx="61264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Exchange rate: interbank (WAR) vs BC selling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66928" y="2057400"/>
          <a:ext cx="6309360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1691640"/>
            <a:ext cx="2057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Interbank (WAR)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1911095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122.84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1691640"/>
            <a:ext cx="2057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BC Selling (Prime)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1911095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123.50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2743199"/>
            <a:ext cx="44805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KEY TAKEAWAYS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3054095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3054095"/>
            <a:ext cx="4206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3273B"/>
                </a:solidFill>
                <a:latin typeface="Calibri"/>
              </a:rPr>
              <a:t>The taka rose 0.34 to 122.84/USD, with BC selling at 123.50.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566928"/>
            <a:ext cx="146304" cy="14630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GLOBAL FUNDING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768096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mbria"/>
              </a:rPr>
              <a:t>Global Reference Rates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Bangladesh Macro Weekly  -  week ending June 29,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55664"/>
            <a:ext cx="167335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Internal Usage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649224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00784"/>
            <a:ext cx="61264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Global reference rates by tenor (%)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66928" y="2103120"/>
          <a:ext cx="630936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1691640"/>
            <a:ext cx="44805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KEY TAKEAWAYS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002536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2002536"/>
            <a:ext cx="4206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3273B"/>
                </a:solidFill>
                <a:latin typeface="Calibri"/>
              </a:rPr>
              <a:t>Term SOFR spans 3.73-3.99% across tenors, while EURIBOR sits lower at 2.29%+.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606039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0" y="2606039"/>
            <a:ext cx="4206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3273B"/>
                </a:solidFill>
                <a:latin typeface="Calibri"/>
              </a:rPr>
              <a:t>The 3-month SOFR-EURIBOR gap is 1.44pp, a live input for currency-of-borrowing decisions.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566928"/>
            <a:ext cx="146304" cy="14630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POLICY &amp; MONEY MARKETS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768096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mbria"/>
              </a:rPr>
              <a:t>Domestic Rates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Bangladesh Macro Weekly  -  week ending June 29,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55664"/>
            <a:ext cx="167335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Internal Usage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649224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00784"/>
            <a:ext cx="61264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Call money vs policy repo rate (%)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66928" y="2057400"/>
          <a:ext cx="6309360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1691640"/>
            <a:ext cx="2057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Policy (Repo) 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1911095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10.00%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1691640"/>
            <a:ext cx="2057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Bank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1911095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4.00%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2560320"/>
            <a:ext cx="2057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Call Money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2779776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9.75%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611879"/>
            <a:ext cx="44805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KEY TAKEAWAYS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3922776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3922776"/>
            <a:ext cx="4206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3273B"/>
                </a:solidFill>
                <a:latin typeface="Calibri"/>
              </a:rPr>
              <a:t>The repo rate is 10.00%, the Bank Rate 4.00%.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251960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4251960"/>
            <a:ext cx="4206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3273B"/>
                </a:solidFill>
                <a:latin typeface="Calibri"/>
              </a:rPr>
              <a:t>Call money fell 0.25pp to 9.75%.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566928"/>
            <a:ext cx="146304" cy="14630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GOVERNMENT SECURITIES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768096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mbria"/>
              </a:rPr>
              <a:t>Yield Curve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Bangladesh Macro Weekly  -  week ending June 29,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55664"/>
            <a:ext cx="167335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Internal Usage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649224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00784"/>
            <a:ext cx="61264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Government securities yield curve (%)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66928" y="2057400"/>
          <a:ext cx="6309360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1691640"/>
            <a:ext cx="44805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YIELDS (%)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002536"/>
            <a:ext cx="914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91D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2002536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3273B"/>
                </a:solidFill>
                <a:latin typeface="Calibri"/>
              </a:rPr>
              <a:t>9.70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2002536"/>
            <a:ext cx="914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182D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002536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3273B"/>
                </a:solidFill>
                <a:latin typeface="Calibri"/>
              </a:rPr>
              <a:t>9.89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2386584"/>
            <a:ext cx="914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364D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38658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3273B"/>
                </a:solidFill>
                <a:latin typeface="Calibri"/>
              </a:rPr>
              <a:t>9.93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2386584"/>
            <a:ext cx="914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2Y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238658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3273B"/>
                </a:solidFill>
                <a:latin typeface="Calibri"/>
              </a:rPr>
              <a:t>10.43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2770632"/>
            <a:ext cx="914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5Y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2770632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3273B"/>
                </a:solidFill>
                <a:latin typeface="Calibri"/>
              </a:rPr>
              <a:t>10.35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2770632"/>
            <a:ext cx="914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10Y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2770632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3273B"/>
                </a:solidFill>
                <a:latin typeface="Calibri"/>
              </a:rPr>
              <a:t>10.24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9480" y="3154680"/>
            <a:ext cx="914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20Y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3154680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3273B"/>
                </a:solidFill>
                <a:latin typeface="Calibri"/>
              </a:rPr>
              <a:t>10.34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3630168"/>
            <a:ext cx="44805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KEY TAKEAWAYS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3941064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  <a:latin typeface="Calibri"/>
              </a:rPr>
              <a:t>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3941064"/>
            <a:ext cx="4206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3273B"/>
                </a:solidFill>
                <a:latin typeface="Calibri"/>
              </a:rPr>
              <a:t>The local-currency curve is upward-sloping: the 91-day (9.70%) sits below the 10-year (10.24%).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9480" y="4544568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  <a:latin typeface="Calibri"/>
              </a:rPr>
              <a:t>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4544568"/>
            <a:ext cx="4206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3273B"/>
                </a:solidFill>
                <a:latin typeface="Calibri"/>
              </a:rPr>
              <a:t>Week-on-week the curve shifted down about 1.00pp on average.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566928"/>
            <a:ext cx="146304" cy="14630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PRICES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768096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mbria"/>
              </a:rPr>
              <a:t>Inflation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Bangladesh Macro Weekly  -  week ending June 29,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55664"/>
            <a:ext cx="167335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Internal Usage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649224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00784"/>
            <a:ext cx="61264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Inflation: point-to-point vs 12-month average (%)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66928" y="2057400"/>
          <a:ext cx="6309360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1691640"/>
            <a:ext cx="2057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P2P Inflation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1911095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9.42%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1691640"/>
            <a:ext cx="2057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Inflation (12M avg)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1911095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8.63%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2743199"/>
            <a:ext cx="44805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KEY TAKEAWAYS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3054095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3054095"/>
            <a:ext cx="4206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3273B"/>
                </a:solidFill>
                <a:latin typeface="Calibri"/>
              </a:rPr>
              <a:t>Point-to-point inflation was unchanged at 9.42%.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3383279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3383279"/>
            <a:ext cx="4206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3273B"/>
                </a:solidFill>
                <a:latin typeface="Calibri"/>
              </a:rPr>
              <a:t>The 12-month average was unchanged at 8.63%.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566928"/>
            <a:ext cx="146304" cy="14630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INFLOWS &amp; TRADE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768096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mbria"/>
              </a:rPr>
              <a:t>Trade &amp; Remittances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Bangladesh Macro Weekly  -  week ending June 29,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55664"/>
            <a:ext cx="167335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Internal Usage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649224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00784"/>
            <a:ext cx="61264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Trade &amp; remittances, monthly ($bn)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66928" y="2057400"/>
          <a:ext cx="6309360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1691640"/>
            <a:ext cx="2057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Import (monthly)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1911095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5.80 $bn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1691640"/>
            <a:ext cx="2057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Export (monthly)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1911095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4.40 $bn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2560320"/>
            <a:ext cx="2057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Remittance (monthly)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2779776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3.43 $bn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611879"/>
            <a:ext cx="44805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KEY TAKEAWAYS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3922776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3922776"/>
            <a:ext cx="4206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3273B"/>
                </a:solidFill>
                <a:latin typeface="Calibri"/>
              </a:rPr>
              <a:t>Remittances was little changed at $3.43bn.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251960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4251960"/>
            <a:ext cx="4206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3273B"/>
                </a:solidFill>
                <a:latin typeface="Calibri"/>
              </a:rPr>
              <a:t>Exports were $4.40bn against imports of $5.80bn - a trade gap of $1.40bn.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566928"/>
            <a:ext cx="146304" cy="14630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EXTERNAL BUFFER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768096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mbria"/>
              </a:rPr>
              <a:t>Foreign Exchange Reserves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Bangladesh Macro Weekly  -  week ending June 29,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55664"/>
            <a:ext cx="167335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Internal Usage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649224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00784"/>
            <a:ext cx="61264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Foreign exchange reserves ($bn)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66928" y="2057400"/>
          <a:ext cx="6309360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1691640"/>
            <a:ext cx="2057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Reserve Gross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1911095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36.08 $bn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1691640"/>
            <a:ext cx="2057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Reserve BPM6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1911095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31.53 $bn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2743199"/>
            <a:ext cx="44805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KEY TAKEAWAYS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3054095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3054095"/>
            <a:ext cx="4206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3273B"/>
                </a:solidFill>
                <a:latin typeface="Calibri"/>
              </a:rPr>
              <a:t>Gross reserves was little changed at $36.08bn (BPM6 $31.53bn).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566928"/>
            <a:ext cx="146304" cy="14630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GLOBAL MARKETS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768096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mbria"/>
              </a:rPr>
              <a:t>Commodities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Bangladesh Macro Weekly  -  week ending June 29,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55664"/>
            <a:ext cx="167335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Internal Usage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649224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00784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Gold ($/oz)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1700784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Brent crude ($/bbl)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548640" y="2103120"/>
          <a:ext cx="3017520" cy="2971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3611880" y="2103120"/>
          <a:ext cx="3108960" cy="2971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269480" y="1691640"/>
            <a:ext cx="2057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Gold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1911095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4,000 $/oz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1691640"/>
            <a:ext cx="2057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Oil (Brent)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1911095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73.00 $/bbl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2679192"/>
            <a:ext cx="44805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KEY TAKEAWAYS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2990088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2990088"/>
            <a:ext cx="4206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3273B"/>
                </a:solidFill>
                <a:latin typeface="Calibri"/>
              </a:rPr>
              <a:t>Gold was little changed at $4,000/oz.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3319272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3319272"/>
            <a:ext cx="4206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3273B"/>
                </a:solidFill>
                <a:latin typeface="Calibri"/>
              </a:rPr>
              <a:t>Brent was little changed at $73.00/bbl.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566928"/>
            <a:ext cx="146304" cy="14630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LOOKING AHEAD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768096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mbria"/>
              </a:rPr>
              <a:t>Data Calendar &amp; Watch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Bangladesh Macro Weekly  -  week ending June 29,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55664"/>
            <a:ext cx="167335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Internal Usage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11274552" cy="566928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764792"/>
            <a:ext cx="2377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Early Jul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764792"/>
            <a:ext cx="84124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 i="0">
                <a:solidFill>
                  <a:srgbClr val="23273B"/>
                </a:solidFill>
                <a:latin typeface="Calibri"/>
              </a:rPr>
              <a:t>BBS - June &amp; FY26 CPI inflation (point-to-point and 12-month average)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04288"/>
            <a:ext cx="11274552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423160"/>
            <a:ext cx="2377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Early Jul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2423160"/>
            <a:ext cx="84124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 i="0">
                <a:solidFill>
                  <a:srgbClr val="23273B"/>
                </a:solidFill>
                <a:latin typeface="Calibri"/>
              </a:rPr>
              <a:t>Bangladesh Bank - month-end gross &amp; BPM6 reserves; FY26 remittance total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962656"/>
            <a:ext cx="11274552" cy="566928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081528"/>
            <a:ext cx="2377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Mid Jul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3081528"/>
            <a:ext cx="84124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 i="0">
                <a:solidFill>
                  <a:srgbClr val="23273B"/>
                </a:solidFill>
                <a:latin typeface="Calibri"/>
              </a:rPr>
              <a:t>EPB - June &amp; FY26 export earnings and the trade balance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621024"/>
            <a:ext cx="11274552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39896"/>
            <a:ext cx="2377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Weekly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739896"/>
            <a:ext cx="84124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 i="0">
                <a:solidFill>
                  <a:srgbClr val="23273B"/>
                </a:solidFill>
                <a:latin typeface="Calibri"/>
              </a:rPr>
              <a:t>Bangladesh Bank - T-bill &amp; T-bond auction cut-off yields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279392"/>
            <a:ext cx="11274552" cy="566928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398264"/>
            <a:ext cx="2377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Jul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4398264"/>
            <a:ext cx="84124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 i="0">
                <a:solidFill>
                  <a:srgbClr val="23273B"/>
                </a:solidFill>
                <a:latin typeface="Calibri"/>
              </a:rPr>
              <a:t>Bangladesh Bank - Monetary Policy Statement for H1 FY27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937759"/>
            <a:ext cx="11274552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056631"/>
            <a:ext cx="2377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Daily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5056631"/>
            <a:ext cx="84124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 i="0">
                <a:solidFill>
                  <a:srgbClr val="23273B"/>
                </a:solidFill>
                <a:latin typeface="Calibri"/>
              </a:rPr>
              <a:t>Global - term SOFR, EURIBOR, gold and Brent crude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1207008"/>
            <a:ext cx="146304" cy="14630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5" y="109728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METHODOLOGY &amp; 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Sources &amp; Disclaimer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5176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Primary sources: Bangladesh Bank (FX, reserves, policy &amp; market rates, remittances); BBS (CPI); EPB (trade); Dhaka Stock Exchange. Global: CME Group (Term SOFR), EMMI (EURIBOR), LBMA/ICE (gold, Brent). Figures are point-in-time and subject to revision by the issuing source.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023360"/>
            <a:ext cx="10515600" cy="1463040"/>
          </a:xfrm>
          <a:prstGeom prst="roundRect">
            <a:avLst/>
          </a:prstGeom>
          <a:solidFill>
            <a:srgbClr val="1A2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169663"/>
            <a:ext cx="996696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9AA3C8"/>
                </a:solidFill>
                <a:latin typeface="Calibri"/>
              </a:rPr>
              <a:t>Prepared for internal senior-management information only. Not investment advice, an offer, or a solicitation. Weekly figures are compiled from public releases and may be provisional. Verify against primary sources before acting. Distribution is restricted and confidential.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Bangladesh Macro Weekly  -  week ending June 29,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