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Interbank (WAR)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121.2</c:v>
                </c:pt>
                <c:pt idx="1">
                  <c:v>121.4</c:v>
                </c:pt>
                <c:pt idx="2">
                  <c:v>121.6</c:v>
                </c:pt>
                <c:pt idx="3">
                  <c:v>121.8</c:v>
                </c:pt>
                <c:pt idx="4">
                  <c:v>122.0</c:v>
                </c:pt>
                <c:pt idx="5">
                  <c:v>122.1</c:v>
                </c:pt>
                <c:pt idx="6">
                  <c:v>122.2</c:v>
                </c:pt>
                <c:pt idx="7">
                  <c:v>122.3</c:v>
                </c:pt>
                <c:pt idx="8">
                  <c:v>122.35</c:v>
                </c:pt>
                <c:pt idx="9">
                  <c:v>122.4</c:v>
                </c:pt>
                <c:pt idx="10">
                  <c:v>122.45</c:v>
                </c:pt>
                <c:pt idx="11">
                  <c:v>122.48</c:v>
                </c:pt>
                <c:pt idx="12">
                  <c:v>122.5</c:v>
                </c:pt>
                <c:pt idx="13">
                  <c:v>122.75</c:v>
                </c:pt>
                <c:pt idx="14">
                  <c:v>122.85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BC Selling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121.8</c:v>
                </c:pt>
                <c:pt idx="1">
                  <c:v>122.0</c:v>
                </c:pt>
                <c:pt idx="2">
                  <c:v>122.2</c:v>
                </c:pt>
                <c:pt idx="3">
                  <c:v>122.4</c:v>
                </c:pt>
                <c:pt idx="4">
                  <c:v>122.55</c:v>
                </c:pt>
                <c:pt idx="5">
                  <c:v>122.65</c:v>
                </c:pt>
                <c:pt idx="6">
                  <c:v>122.75</c:v>
                </c:pt>
                <c:pt idx="7">
                  <c:v>122.85</c:v>
                </c:pt>
                <c:pt idx="8">
                  <c:v>122.9</c:v>
                </c:pt>
                <c:pt idx="9">
                  <c:v>122.95</c:v>
                </c:pt>
                <c:pt idx="10">
                  <c:v>123.0</c:v>
                </c:pt>
                <c:pt idx="11">
                  <c:v>123.0</c:v>
                </c:pt>
                <c:pt idx="12">
                  <c:v>123.0</c:v>
                </c:pt>
                <c:pt idx="13">
                  <c:v>123.25</c:v>
                </c:pt>
                <c:pt idx="14">
                  <c:v>123.75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SOFR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3M</c:v>
                </c:pt>
                <c:pt idx="1">
                  <c:v>6M</c:v>
                </c:pt>
                <c:pt idx="2">
                  <c:v>12M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3.75202</c:v>
                </c:pt>
                <c:pt idx="1">
                  <c:v>3.87192</c:v>
                </c:pt>
                <c:pt idx="2">
                  <c:v>4.02612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EURIBOR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Sheet1!$A$2:$A$4</c:f>
              <c:strCache>
                <c:ptCount val="3"/>
                <c:pt idx="0">
                  <c:v>3M</c:v>
                </c:pt>
                <c:pt idx="1">
                  <c:v>6M</c:v>
                </c:pt>
                <c:pt idx="2">
                  <c:v>12M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2.335</c:v>
                </c:pt>
                <c:pt idx="1">
                  <c:v>2.565</c:v>
                </c:pt>
                <c:pt idx="2">
                  <c:v>2.733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 money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9.2</c:v>
                </c:pt>
                <c:pt idx="1">
                  <c:v>9.4</c:v>
                </c:pt>
                <c:pt idx="2">
                  <c:v>9.8</c:v>
                </c:pt>
                <c:pt idx="3">
                  <c:v>10.1</c:v>
                </c:pt>
                <c:pt idx="4">
                  <c:v>9.95</c:v>
                </c:pt>
                <c:pt idx="5">
                  <c:v>10.0</c:v>
                </c:pt>
                <c:pt idx="6">
                  <c:v>10.05</c:v>
                </c:pt>
                <c:pt idx="7">
                  <c:v>10.1</c:v>
                </c:pt>
                <c:pt idx="8">
                  <c:v>10.05</c:v>
                </c:pt>
                <c:pt idx="9">
                  <c:v>10.0</c:v>
                </c:pt>
                <c:pt idx="10">
                  <c:v>9.95</c:v>
                </c:pt>
                <c:pt idx="11">
                  <c:v>10.0</c:v>
                </c:pt>
                <c:pt idx="12">
                  <c:v>10.0</c:v>
                </c:pt>
                <c:pt idx="13">
                  <c:v>9.9</c:v>
                </c:pt>
                <c:pt idx="14">
                  <c:v>9.61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repo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week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91D</c:v>
                </c:pt>
                <c:pt idx="1">
                  <c:v>182D</c:v>
                </c:pt>
                <c:pt idx="2">
                  <c:v>364D</c:v>
                </c:pt>
                <c:pt idx="3">
                  <c:v>2Y</c:v>
                </c:pt>
                <c:pt idx="4">
                  <c:v>5Y</c:v>
                </c:pt>
                <c:pt idx="5">
                  <c:v>10Y</c:v>
                </c:pt>
                <c:pt idx="6">
                  <c:v>20Y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9.4399</c:v>
                </c:pt>
                <c:pt idx="1">
                  <c:v>9.7098</c:v>
                </c:pt>
                <c:pt idx="2">
                  <c:v>9.74</c:v>
                </c:pt>
                <c:pt idx="3">
                  <c:v>10.43</c:v>
                </c:pt>
                <c:pt idx="4">
                  <c:v>10.3502</c:v>
                </c:pt>
                <c:pt idx="5">
                  <c:v>10.24</c:v>
                </c:pt>
                <c:pt idx="6">
                  <c:v>10.34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week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91D</c:v>
                </c:pt>
                <c:pt idx="1">
                  <c:v>182D</c:v>
                </c:pt>
                <c:pt idx="2">
                  <c:v>364D</c:v>
                </c:pt>
                <c:pt idx="3">
                  <c:v>2Y</c:v>
                </c:pt>
                <c:pt idx="4">
                  <c:v>5Y</c:v>
                </c:pt>
                <c:pt idx="5">
                  <c:v>10Y</c:v>
                </c:pt>
                <c:pt idx="6">
                  <c:v>20Y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9.6985</c:v>
                </c:pt>
                <c:pt idx="1">
                  <c:v>9.89</c:v>
                </c:pt>
                <c:pt idx="2">
                  <c:v>9.9255</c:v>
                </c:pt>
                <c:pt idx="3">
                  <c:v>10.43</c:v>
                </c:pt>
                <c:pt idx="4">
                  <c:v>10.3502</c:v>
                </c:pt>
                <c:pt idx="5">
                  <c:v>10.24</c:v>
                </c:pt>
                <c:pt idx="6">
                  <c:v>10.34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Point-to-point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9.05</c:v>
                </c:pt>
                <c:pt idx="1">
                  <c:v>8.48</c:v>
                </c:pt>
                <c:pt idx="2">
                  <c:v>8.55</c:v>
                </c:pt>
                <c:pt idx="3">
                  <c:v>8.29</c:v>
                </c:pt>
                <c:pt idx="4">
                  <c:v>8.1</c:v>
                </c:pt>
                <c:pt idx="5">
                  <c:v>8.2</c:v>
                </c:pt>
                <c:pt idx="6">
                  <c:v>7.95</c:v>
                </c:pt>
                <c:pt idx="7">
                  <c:v>8.3</c:v>
                </c:pt>
                <c:pt idx="8">
                  <c:v>8.58</c:v>
                </c:pt>
                <c:pt idx="9">
                  <c:v>9.13</c:v>
                </c:pt>
                <c:pt idx="10">
                  <c:v>8.71</c:v>
                </c:pt>
                <c:pt idx="11">
                  <c:v>9.04</c:v>
                </c:pt>
                <c:pt idx="12">
                  <c:v>9.42</c:v>
                </c:pt>
                <c:pt idx="13">
                  <c:v>9.42</c:v>
                </c:pt>
                <c:pt idx="14">
                  <c:v>9.42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12-month avg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10.2</c:v>
                </c:pt>
                <c:pt idx="1">
                  <c:v>10.05</c:v>
                </c:pt>
                <c:pt idx="2">
                  <c:v>9.9</c:v>
                </c:pt>
                <c:pt idx="3">
                  <c:v>9.7</c:v>
                </c:pt>
                <c:pt idx="4">
                  <c:v>9.5</c:v>
                </c:pt>
                <c:pt idx="5">
                  <c:v>9.3</c:v>
                </c:pt>
                <c:pt idx="6">
                  <c:v>9.1</c:v>
                </c:pt>
                <c:pt idx="7">
                  <c:v>8.95</c:v>
                </c:pt>
                <c:pt idx="8">
                  <c:v>8.85</c:v>
                </c:pt>
                <c:pt idx="9">
                  <c:v>8.8</c:v>
                </c:pt>
                <c:pt idx="10">
                  <c:v>8.74</c:v>
                </c:pt>
                <c:pt idx="11">
                  <c:v>8.7</c:v>
                </c:pt>
                <c:pt idx="12">
                  <c:v>8.63</c:v>
                </c:pt>
                <c:pt idx="13">
                  <c:v>8.63</c:v>
                </c:pt>
                <c:pt idx="14">
                  <c:v>8.63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4.74</c:v>
                </c:pt>
                <c:pt idx="1">
                  <c:v>4.1</c:v>
                </c:pt>
                <c:pt idx="2">
                  <c:v>3.85</c:v>
                </c:pt>
                <c:pt idx="3">
                  <c:v>4.05</c:v>
                </c:pt>
                <c:pt idx="4">
                  <c:v>4.2</c:v>
                </c:pt>
                <c:pt idx="5">
                  <c:v>4.3</c:v>
                </c:pt>
                <c:pt idx="6">
                  <c:v>4.25</c:v>
                </c:pt>
                <c:pt idx="7">
                  <c:v>4.45</c:v>
                </c:pt>
                <c:pt idx="8">
                  <c:v>4.15</c:v>
                </c:pt>
                <c:pt idx="9">
                  <c:v>4.2</c:v>
                </c:pt>
                <c:pt idx="10">
                  <c:v>4.55</c:v>
                </c:pt>
                <c:pt idx="11">
                  <c:v>4.3</c:v>
                </c:pt>
                <c:pt idx="12">
                  <c:v>4.4</c:v>
                </c:pt>
                <c:pt idx="13">
                  <c:v>4.4</c:v>
                </c:pt>
                <c:pt idx="14">
                  <c:v>4.2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Import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5.3</c:v>
                </c:pt>
                <c:pt idx="1">
                  <c:v>5.45</c:v>
                </c:pt>
                <c:pt idx="2">
                  <c:v>5.2</c:v>
                </c:pt>
                <c:pt idx="3">
                  <c:v>5.35</c:v>
                </c:pt>
                <c:pt idx="4">
                  <c:v>5.5</c:v>
                </c:pt>
                <c:pt idx="5">
                  <c:v>5.4</c:v>
                </c:pt>
                <c:pt idx="6">
                  <c:v>5.55</c:v>
                </c:pt>
                <c:pt idx="7">
                  <c:v>5.7</c:v>
                </c:pt>
                <c:pt idx="8">
                  <c:v>5.45</c:v>
                </c:pt>
                <c:pt idx="9">
                  <c:v>5.5</c:v>
                </c:pt>
                <c:pt idx="10">
                  <c:v>5.65</c:v>
                </c:pt>
                <c:pt idx="11">
                  <c:v>5.6</c:v>
                </c:pt>
                <c:pt idx="12">
                  <c:v>5.8</c:v>
                </c:pt>
                <c:pt idx="13">
                  <c:v>5.8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Remittance</c:v>
                </c:pt>
              </c:strCache>
            </c:strRef>
          </c:tx>
          <c:spPr>
            <a:ln w="28575">
              <a:solidFill>
                <a:srgbClr val="1E8E5A"/>
              </a:solidFill>
            </a:ln>
          </c:spPr>
          <c:marker>
            <c:symbol val="circle"/>
            <c:spPr>
              <a:solidFill>
                <a:srgbClr val="1E8E5A"/>
              </a:solidFill>
              <a:ln>
                <a:solidFill>
                  <a:srgbClr val="1E8E5A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2.97</c:v>
                </c:pt>
                <c:pt idx="1">
                  <c:v>2.82</c:v>
                </c:pt>
                <c:pt idx="2">
                  <c:v>2.47</c:v>
                </c:pt>
                <c:pt idx="3">
                  <c:v>2.42</c:v>
                </c:pt>
                <c:pt idx="4">
                  <c:v>2.55</c:v>
                </c:pt>
                <c:pt idx="5">
                  <c:v>2.56</c:v>
                </c:pt>
                <c:pt idx="6">
                  <c:v>2.49</c:v>
                </c:pt>
                <c:pt idx="7">
                  <c:v>2.92</c:v>
                </c:pt>
                <c:pt idx="8">
                  <c:v>2.6</c:v>
                </c:pt>
                <c:pt idx="9">
                  <c:v>2.55</c:v>
                </c:pt>
                <c:pt idx="10">
                  <c:v>2.95</c:v>
                </c:pt>
                <c:pt idx="11">
                  <c:v>3.12</c:v>
                </c:pt>
                <c:pt idx="12">
                  <c:v>3.43</c:v>
                </c:pt>
                <c:pt idx="13">
                  <c:v>3.43</c:v>
                </c:pt>
                <c:pt idx="14">
                  <c:v>2.816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31.4</c:v>
                </c:pt>
                <c:pt idx="1">
                  <c:v>31.7</c:v>
                </c:pt>
                <c:pt idx="2">
                  <c:v>30.9</c:v>
                </c:pt>
                <c:pt idx="3">
                  <c:v>31.5</c:v>
                </c:pt>
                <c:pt idx="4">
                  <c:v>31.8</c:v>
                </c:pt>
                <c:pt idx="5">
                  <c:v>32.34</c:v>
                </c:pt>
                <c:pt idx="6">
                  <c:v>32.8</c:v>
                </c:pt>
                <c:pt idx="7">
                  <c:v>33.2</c:v>
                </c:pt>
                <c:pt idx="8">
                  <c:v>33.6</c:v>
                </c:pt>
                <c:pt idx="9">
                  <c:v>34.1</c:v>
                </c:pt>
                <c:pt idx="10">
                  <c:v>34.4</c:v>
                </c:pt>
                <c:pt idx="11">
                  <c:v>35.11</c:v>
                </c:pt>
                <c:pt idx="12">
                  <c:v>34.55</c:v>
                </c:pt>
                <c:pt idx="13">
                  <c:v>34.55</c:v>
                </c:pt>
                <c:pt idx="14">
                  <c:v>34.55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BPM6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27.0</c:v>
                </c:pt>
                <c:pt idx="1">
                  <c:v>26.7</c:v>
                </c:pt>
                <c:pt idx="2">
                  <c:v>26.1</c:v>
                </c:pt>
                <c:pt idx="3">
                  <c:v>26.8</c:v>
                </c:pt>
                <c:pt idx="4">
                  <c:v>27.0</c:v>
                </c:pt>
                <c:pt idx="5">
                  <c:v>27.58</c:v>
                </c:pt>
                <c:pt idx="6">
                  <c:v>28.0</c:v>
                </c:pt>
                <c:pt idx="7">
                  <c:v>28.51</c:v>
                </c:pt>
                <c:pt idx="8">
                  <c:v>28.9</c:v>
                </c:pt>
                <c:pt idx="9">
                  <c:v>29.47</c:v>
                </c:pt>
                <c:pt idx="10">
                  <c:v>29.9</c:v>
                </c:pt>
                <c:pt idx="11">
                  <c:v>30.6</c:v>
                </c:pt>
                <c:pt idx="12">
                  <c:v>30.0</c:v>
                </c:pt>
                <c:pt idx="13">
                  <c:v>30.0</c:v>
                </c:pt>
                <c:pt idx="14">
                  <c:v>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2380</c:v>
                </c:pt>
                <c:pt idx="1">
                  <c:v>2450</c:v>
                </c:pt>
                <c:pt idx="2">
                  <c:v>2550</c:v>
                </c:pt>
                <c:pt idx="3">
                  <c:v>2650</c:v>
                </c:pt>
                <c:pt idx="4">
                  <c:v>2800</c:v>
                </c:pt>
                <c:pt idx="5">
                  <c:v>2950</c:v>
                </c:pt>
                <c:pt idx="6">
                  <c:v>3150</c:v>
                </c:pt>
                <c:pt idx="7">
                  <c:v>3400</c:v>
                </c:pt>
                <c:pt idx="8">
                  <c:v>4250</c:v>
                </c:pt>
                <c:pt idx="9">
                  <c:v>4150</c:v>
                </c:pt>
                <c:pt idx="10">
                  <c:v>4080</c:v>
                </c:pt>
                <c:pt idx="11">
                  <c:v>4050</c:v>
                </c:pt>
                <c:pt idx="12">
                  <c:v>4000</c:v>
                </c:pt>
                <c:pt idx="13">
                  <c:v>4000</c:v>
                </c:pt>
                <c:pt idx="14">
                  <c:v>4175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80.0</c:v>
                </c:pt>
                <c:pt idx="1">
                  <c:v>79.0</c:v>
                </c:pt>
                <c:pt idx="2">
                  <c:v>77.0</c:v>
                </c:pt>
                <c:pt idx="3">
                  <c:v>76.0</c:v>
                </c:pt>
                <c:pt idx="4">
                  <c:v>75.0</c:v>
                </c:pt>
                <c:pt idx="5">
                  <c:v>74.0</c:v>
                </c:pt>
                <c:pt idx="6">
                  <c:v>73.0</c:v>
                </c:pt>
                <c:pt idx="7">
                  <c:v>75.0</c:v>
                </c:pt>
                <c:pt idx="8">
                  <c:v>78.0</c:v>
                </c:pt>
                <c:pt idx="9">
                  <c:v>80.0</c:v>
                </c:pt>
                <c:pt idx="10">
                  <c:v>84.0</c:v>
                </c:pt>
                <c:pt idx="11">
                  <c:v>88.0</c:v>
                </c:pt>
                <c:pt idx="12">
                  <c:v>85.0</c:v>
                </c:pt>
                <c:pt idx="13">
                  <c:v>85.0</c:v>
                </c:pt>
                <c:pt idx="14">
                  <c:v>72.12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BANGLADESH  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7899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DCM Weekly : দেশী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mbria"/>
              </a:rPr>
              <a:t>Rates, FX, the External Sector &amp; Global Markets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10515600" cy="1463040"/>
          </a:xfrm>
          <a:prstGeom prst="roundRect">
            <a:avLst/>
          </a:prstGeom>
          <a:solidFill>
            <a:srgbClr val="1A2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61104"/>
            <a:ext cx="9966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Bangladesh Bank maintains its contractionary policy rate at 10.0% through H1FY27 to anchor inflation—now easing to 9.4% from an 11.7% peak—while unveiling a Tk. 60,000 crore stimulus package aimed at reviving private credit, industrial output, and generating 25 lakh jobs; even as the economy shows a fragile recovery with GDP growth targeted at 6.5%, elevated NPLs near 32%, stable reserves and remittances, sweeping banking-sector reforms, and mounting external risks from Middle East conflict-driven energy and fertilizer price shocks.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Week ending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July 04,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For Quick Reference Only - Domestic &amp; Global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89788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14476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CADCFC"/>
                </a:solidFill>
                <a:latin typeface="Calibri"/>
              </a:rPr>
              <a:t>M Sohel Rahman, DHAKA, 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07899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Week-on-week moves. Green = favourable, red = adverse, grey = market/neutral.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196596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Interbank (WAR)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122.85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▲ 0.01  WoW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196596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BC Selling (Prime)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123.75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▲ 0.25  WoW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1965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SOFR 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3.75%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▲ 0.02 pp  WoW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62872" y="1965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Policy (Repo)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10.00%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Call Money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9.61%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0.14 pp  WoW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0215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4845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T-Bill 91D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215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9.44%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215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0.26 pp  WoW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251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T-Bond 10Y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10.24%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62872" y="315468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917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P2P Inflation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9.42%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287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1792" y="434340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Inflation (12M avg)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8.63%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02152" y="434340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4845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Import (monthly)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215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5.80 $bn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0215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2512" y="43434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2881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Export (monthly)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8251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4.20 $bn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8251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▼ 4.55%  WoW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262872" y="43434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0917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Remittance (monthly)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287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2.82 $bn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6287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▼ 17.90%  WoW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179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09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Gross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36.08 $bn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3756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50215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4845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BPM6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0215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31.53 $bn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382512" y="553212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2881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Gold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8251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4,175 $/oz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8251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▲ 4.38%  WoW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9828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62872" y="5532120"/>
            <a:ext cx="91440" cy="9144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0917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Oil (Brent)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6287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72.12 $/bbl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6287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1E8E5A"/>
                </a:solidFill>
                <a:latin typeface="Calibri"/>
              </a:rPr>
              <a:t>▼ 1.21%  WoW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FX &amp; Exchange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Exchange rate: interbank (WAR) vs BC selling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Interbank (WAR)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122.85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BC Selling (Prime)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123.75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taka rose 0.01 to 122.85/USD, with BC selling at 123.75.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GLOBAL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Global Reference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Global reference rates by tenor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103120"/>
          <a:ext cx="63093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0253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0253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Term SOFR spans 3.75-4.03% across tenors, while EURIBOR sits lower at 2.33%+.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606039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606039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3-month SOFR-EURIBOR gap is 1.42pp, a live input for currency-of-borrowing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POLICY &amp; MONEY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Domestic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Call money vs policy repo rate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Policy (Repo)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10.00%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Bank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Call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79776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9.61%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1187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2277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92277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repo rate is 10.00%, the Bank Rate 4.00%.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5196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51960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Call money fell 0.14pp to 9.61%.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GOVERNMENT SECURITIES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Yield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Government securities yield curve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YIELDS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02536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91D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002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002536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182D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002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386584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364D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38658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386584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38658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77063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5Y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77063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77063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10Y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77063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154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20Y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15468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630168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941064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941064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local-currency curve is upward-sloping: the 91-day (9.44%) sits below the 10-year (10.24%).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54456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544568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Week-on-week the curve shifted down about 0.09pp on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Inflation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Inflation: point-to-point vs 12-month average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P2P Inflation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9.42%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Inflation (12M avg)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8.63%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Point-to-point inflation was unchanged at 9.42%.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383279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383279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12-month average was unchanged at 8.63%.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INFLOWS &amp;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Trade &amp; Remittances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Trade &amp; remittances, monthly ($bn)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Import (monthly)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5.80 $bn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Export (monthly)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4.20 $bn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Remittance (monthly)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79776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2.82 $bn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1187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2277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92277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Remittances fell 17.9% to $2.82bn.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5196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51960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Exports were $4.20bn against imports of $5.80bn - a trade gap of $1.60bn.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EXTERNAL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Foreign Exchange Reserves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Foreign exchange reserves ($bn)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Gross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36.08 $bn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BPM6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31.53 $bn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Gross reserves was little changed at $36.08bn (BPM6 $31.53bn).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GLOBAL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Commodities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Gold ($/oz)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00784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Brent crude ($/bbl)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2103120"/>
          <a:ext cx="301752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11880" y="2103120"/>
          <a:ext cx="310896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4,175 $/oz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Oil (Brent)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72.12 $/bbl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79192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99008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990088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Gold rose 4.4% to $4,175/oz.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319272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319272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Brent fell 1.2% to $72.12/bbl.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SPECIAL ISSUE · MPS27H1, BANGLADESH BANK, POLICY, FY 2026-27 · JULY 04, 2026  (cont. 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Bangladesh Bank Monetary Policy Statement (H1 FY27) —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11274552" cy="4224528"/>
          </a:xfrm>
          <a:prstGeom prst="round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09728" cy="42245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ANALYST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41448"/>
            <a:ext cx="102412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Policy rate held at 10.0% (unchanged since Oct 2024); SLF at 11.5%, SDF at 7.5% — contractionary stance continues into H1FY27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53512"/>
            <a:ext cx="102412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Inflation: eased from 11.7% (Jul 2024) to 9.4% (May 2026); projected to moderate to ~8.9% by Dec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6557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65576"/>
            <a:ext cx="102412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Growth: FY26 GDP growth ~4.14%; FY27 target 6.5% (BB forecasts 6.1%)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77639"/>
            <a:ext cx="102412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Tk. 60,000 crore stimulus package for industry, agriculture &amp; CMSMEs — expected to create ~25 lakh jobs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9704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489704"/>
            <a:ext cx="102412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Private sector credit growth slowed to 5.5% (Jun 2026); projected to recover to 8.0% by Jun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0176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001768"/>
            <a:ext cx="102412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NPLs remain elevated: gross NPL ratio at 32.26% (Mar 2026); new Bank Resolution Act &amp; Deposit Protection Act 2026 introduced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13832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513832"/>
            <a:ext cx="102412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External sector strengthened: reserves rose to $31.74B; remittances up 19.07%; exchange rate stable (~BDT 123/USD)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SPECIAL ISSUE · MPS27H1, BANGLADESH BANK, POLICY, FY 2026-27 · JULY 04, 2026  (cont. 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Bangladesh Bank Monetary Policy Statement (H1 FY27) — Summary (continued)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11274552" cy="1580083"/>
          </a:xfrm>
          <a:prstGeom prst="round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09728" cy="1580083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ANALYST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41448"/>
            <a:ext cx="10241280" cy="84856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Key risks: Middle East conflict, energy/fertilizer price shocks, high NPLs, weak private 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Data Calendar &amp;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64792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Early Jul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64792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BBS - June &amp; FY26 CPI inflation (point-to-point and 12-month average)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Early Jul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23160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month-end gross &amp; BPM6 reserves; FY26 remittance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62656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81528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Mid Jul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81528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EPB - June &amp; FY26 export earnings and the trade balance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21024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39896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Weekly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739896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T-bill &amp; T-bond auction cut-off yields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79392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9826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Jul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98264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Monetary Policy Statement for H1 FY27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59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56631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056631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Global - term SOFR, EURIBOR, gold and Brent crude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20700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09728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METHODOLOGY &amp;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Sources &amp; Disclaimer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Primary sources: Bangladesh Bank (FX, reserves, policy &amp; market rates, remittances); BBS (CPI); EPB (trade); Dhaka Stock Exchange. Global: CME Group (Term SOFR), EMMI (EURIBOR), LBMA/ICE (gold, Brent). Figures are point-in-time and subject to revision by the issuing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10515600" cy="1463040"/>
          </a:xfrm>
          <a:prstGeom prst="roundRect">
            <a:avLst/>
          </a:prstGeom>
          <a:solidFill>
            <a:srgbClr val="1A2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9663"/>
            <a:ext cx="9966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3C8"/>
                </a:solidFill>
                <a:latin typeface="Calibri"/>
              </a:rPr>
              <a:t>Prepared for internal senior-management information only. Not investment advice, an offer, or a solicitation. Weekly figures are compiled from public releases and may be provisional. Verify against primary sources before acting. Distribution is restricted and confidential.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